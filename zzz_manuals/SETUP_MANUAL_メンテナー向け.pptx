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645920"/>
            <a:ext cx="5852160" cy="5852160"/>
          </a:xfrm>
          <a:prstGeom prst="ellipse">
            <a:avLst/>
          </a:prstGeom>
          <a:noFill/>
          <a:ln w="19050">
            <a:solidFill>
              <a:srgbClr val="3A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731520"/>
            <a:ext cx="4023360" cy="4023360"/>
          </a:xfrm>
          <a:prstGeom prst="ellipse">
            <a:avLst/>
          </a:prstGeom>
          <a:noFill/>
          <a:ln w="19050">
            <a:solidFill>
              <a:srgbClr val="3A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2194560" cy="2194560"/>
          </a:xfrm>
          <a:prstGeom prst="ellipse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CADCFC"/>
                </a:solidFill>
                <a:latin typeface="Meiryo"/>
                <a:ea typeface="Meiryo"/>
              </a:rPr>
              <a:t xml:space="preserve">生産設備メンテナー向け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</a:rPr>
              <a:t xml:space="preserve">員数チェックシステム</a:t>
            </a:r>
          </a:p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</a:rPr>
              <a:t xml:space="preserve">セットアップマニュアル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500" b="0">
                <a:solidFill>
                  <a:srgbClr val="CADCFC"/>
                </a:solidFill>
                <a:latin typeface="Meiryo"/>
                <a:ea typeface="Meiryo"/>
              </a:rPr>
              <a:t xml:space="preserve">RF-DETR 物体検出による出荷員数チェック（object_detection_system_plc_rfdetr）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CADCFC"/>
                </a:solidFill>
                <a:latin typeface="Meiryo"/>
                <a:ea typeface="Meiryo"/>
              </a:rPr>
              <a:t xml:space="preserve">対象OS：Windows 10 / 11　｜　プログラミング知識は不要です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394960"/>
            <a:ext cx="7498079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94960"/>
            <a:ext cx="7132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>
                <a:solidFill>
                  <a:srgbClr val="FFFFFF"/>
                </a:solidFill>
                <a:latin typeface="Meiryo"/>
                <a:ea typeface="Meiryo"/>
              </a:rPr>
              <a:t xml:space="preserve">コマンドは枠内をそのままコピーして貼り付ければ実行できます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1. システム概要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23262E"/>
                </a:solidFill>
                <a:latin typeface="Meiryo"/>
                <a:ea typeface="Meiryo"/>
              </a:rPr>
              <a:t xml:space="preserve">Webカメラで出荷箱を撮影し、AI（RF-DETR）が箱内の部品を検出して員数（個数）を自動チェックするシステムです。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305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Meiryo"/>
                <a:ea typeface="Meiryo"/>
              </a:rPr>
              <a:t xml:space="preserve">USBカメラ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出荷箱を撮影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18104" y="2496312"/>
            <a:ext cx="310896" cy="310896"/>
          </a:xfrm>
          <a:prstGeom prst="rightArrow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305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Windows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963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CADCFC"/>
                </a:solidFill>
                <a:latin typeface="Meiryo"/>
                <a:ea typeface="Meiryo"/>
              </a:rPr>
              <a:t xml:space="preserve">AIが部品を検出し</a:t>
            </a:r>
          </a:p>
          <a:p>
            <a:pPr algn="ctr"/>
            <a:r>
              <a:rPr sz="1150" b="0">
                <a:solidFill>
                  <a:srgbClr val="CADCFC"/>
                </a:solidFill>
                <a:latin typeface="Meiryo"/>
                <a:ea typeface="Meiryo"/>
              </a:rPr>
              <a:t xml:space="preserve">員数を判定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44184" y="2496312"/>
            <a:ext cx="310896" cy="310896"/>
          </a:xfrm>
          <a:prstGeom prst="rightArrow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9659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305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Meiryo"/>
                <a:ea typeface="Meiryo"/>
              </a:rPr>
              <a:t xml:space="preserve">判定結果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963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OK / NG を表示・保存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70264" y="2496312"/>
            <a:ext cx="310896" cy="310896"/>
          </a:xfrm>
          <a:prstGeom prst="rightArrow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30552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Meiryo"/>
                <a:ea typeface="Meiryo"/>
              </a:rPr>
              <a:t xml:space="preserve">PLC（CJ2H）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496312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設備へ結果を通知</a:t>
            </a:r>
          </a:p>
          <a:p>
            <a:pPr algn="ctr"/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（連携時）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検査のトリガー（きっかけ）は2通り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4114800"/>
          <a:ext cx="7498080" cy="123444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トリガー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用途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Web画面のボタン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手動検査・動作確認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PLC（オムロンCJ2H）のビットON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設備連動の自動検査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412480" y="4114800"/>
            <a:ext cx="3200400" cy="16916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424281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構成機器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4553712"/>
            <a:ext cx="279806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・Windows PC</a:t>
            </a:r>
          </a:p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・USBカメラ</a:t>
            </a:r>
          </a:p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・オムロンPLC（CJ2H）</a:t>
            </a:r>
          </a:p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・LANケーブル（PLC連携時）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2. 事前準備（必要なもの）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1965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Windows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7685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メモリ16GB以上推奨。学習も行うためGPU搭載を推奨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7830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81965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USBカメラ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7685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PCに接続しておく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0" y="17830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81965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リポジトリ一式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27685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USBメモリ等で受け取ったフォルダ、またはZIP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4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1129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インターネット接続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96849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初回セットアップ時のみ必要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29184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60" y="347472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474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51129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PLCの接続情報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96849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PLCのIPアドレス、使用するビット番号（PLC連携時）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91840"/>
            <a:ext cx="36118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0" y="347472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474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  <a:ea typeface="Meiryo"/>
              </a:rPr>
              <a:t xml:space="preserve"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51129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E2761"/>
                </a:solidFill>
                <a:latin typeface="Meiryo"/>
                <a:ea typeface="Meiryo"/>
              </a:rPr>
              <a:t xml:space="preserve">作業時間の確保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968496"/>
            <a:ext cx="3172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初回セットアップは合計30〜60分程度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A6272"/>
                </a:solidFill>
                <a:latin typeface="Meiryo"/>
                <a:ea typeface="Meiryo"/>
              </a:rPr>
              <a:t xml:space="preserve">チェックが全部そろったら、次ページからセットアップを開始します。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3. Pythonのインストール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23262E"/>
                </a:solidFill>
                <a:latin typeface="Meiryo"/>
                <a:ea typeface="Meiryo"/>
              </a:rPr>
              <a:t xml:space="preserve">本システムは Python 3.11 で動作します。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013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8308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ダウンロードページを開く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75688"/>
            <a:ext cx="6419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ブラウザで https://www.python.org/downloads/ を開く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1460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インストーラーを入手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07208"/>
            <a:ext cx="6419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「Python 3.11.x」のWindowsインストーラーをダウンロード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24612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インストール実行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538727"/>
            <a:ext cx="6419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チェックを入れてから「Install Now」をクリック（右の注意参照）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9592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77639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インストール確認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270248"/>
            <a:ext cx="6419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スタートメニューで cmd と検索して「コマンドプロンプト」を開き、下のコマンドを実行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4892040"/>
            <a:ext cx="475488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92040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py --version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9560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2E7D4F"/>
                </a:solidFill>
                <a:latin typeface="Meiryo"/>
                <a:ea typeface="Meiryo"/>
              </a:rPr>
              <a:t xml:space="preserve">→ 「Python 3.11.x」と表示されればOK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783080"/>
            <a:ext cx="3749039" cy="16002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28431" y="192938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19293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1911095"/>
            <a:ext cx="29717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ここが最重要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2203704"/>
            <a:ext cx="2971799" cy="1088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インストーラー最初の画面で「Add python.exe to PATH」に必ずチェックを入れてください。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566160"/>
            <a:ext cx="3749039" cy="12344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8" y="3694176"/>
            <a:ext cx="3346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表示されない場合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4005072"/>
            <a:ext cx="3346703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PCを一度再起動してから、もう一度 py --version を実行してください。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4. システム一式の配置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55448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フォルダを配置する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47088"/>
            <a:ext cx="64190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リポジトリのフォルダ（object_detection_system_plc_rfdetr）をC:直下などに置く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1460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ZIPの場合は先に解凍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07208"/>
            <a:ext cx="64190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右クリック →「すべて展開」で解凍してから移動する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3262E"/>
                </a:solidFill>
                <a:latin typeface="Meiryo"/>
                <a:ea typeface="Meiryo"/>
              </a:rPr>
              <a:t xml:space="preserve">配置例（以降このフォルダを「システムフォルダ」と呼びます）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676656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64008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C:\object_detection_system_plc_rfdetr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554480"/>
            <a:ext cx="3749039" cy="178308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28431" y="170078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17007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1682495"/>
            <a:ext cx="29717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置き場所の注意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1975104"/>
            <a:ext cx="2971799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日本語やスペースを含むパス（例：デスクトップ、Program Files）は避けてください。動作不良の原因になります。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STEP 3（1/2）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5. 初回セットアップ ― 仮想環境の作成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23262E"/>
                </a:solidFill>
                <a:latin typeface="Meiryo"/>
                <a:ea typeface="Meiryo"/>
              </a:rPr>
              <a:t xml:space="preserve">1回だけ実施する作業です。コマンドプロンプトを開き、上から順に実行します。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2880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システムフォルダへ移動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212848"/>
            <a:ext cx="640080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12848"/>
            <a:ext cx="6035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cd C:\object_detection_system_plc_rfdetr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06324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仮想環境の作成（専用のPython環境を作ります）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447288"/>
            <a:ext cx="6400800" cy="731520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447288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py -3.11 -m venv .venv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.venv\Scripts\activate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526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Meiryo"/>
                <a:ea typeface="Meiryo"/>
              </a:rPr>
              <a:t xml:space="preserve">成功のサイン：</a:t>
            </a:r>
            <a:r>
              <a:rPr sz="1300" b="0">
                <a:solidFill>
                  <a:srgbClr val="23262E"/>
                </a:solidFill>
                <a:latin typeface="Meiryo"/>
                <a:ea typeface="Meiryo"/>
              </a:rPr>
              <a:t xml:space="preserve">行の先頭に (.venv) と表示されます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828800"/>
            <a:ext cx="3200400" cy="23774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95681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仮想環境とは？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2267712"/>
            <a:ext cx="27980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このシステム専用のPython環境です。PC内の他のソフトに影響を与えずに動かすための仕組みで、一度作れば以降は自動で使われます。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STEP 3（2/2）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5. 初回セットアップ ― 部品のインストールとDB作成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6304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必要なソフトウェア部品のインストール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1847088"/>
            <a:ext cx="640080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47088"/>
            <a:ext cx="6035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pip install -r requirements.txt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97480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データベースの作成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081528"/>
            <a:ext cx="6400800" cy="1207008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081528"/>
            <a:ext cx="6035040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cd object_detection_system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python manage.py makemigrations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python manage.py migrate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cd 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526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E7D4F"/>
                </a:solidFill>
                <a:latin typeface="Meiryo"/>
                <a:ea typeface="Meiryo"/>
              </a:rPr>
              <a:t xml:space="preserve">成功のサイン：</a:t>
            </a:r>
            <a:r>
              <a:rPr sz="1300" b="0">
                <a:solidFill>
                  <a:srgbClr val="23262E"/>
                </a:solidFill>
                <a:latin typeface="Meiryo"/>
                <a:ea typeface="Meiryo"/>
              </a:rPr>
              <a:t xml:space="preserve">「OK」が並んで表示されます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463040"/>
            <a:ext cx="3200400" cy="169164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77072" y="160934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1609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1591056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時間がかかります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1883664"/>
            <a:ext cx="2423160" cy="1179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数GBのダウンロードが発生し、10〜30分程度かかることがあります。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3337560"/>
            <a:ext cx="320040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3465576"/>
            <a:ext cx="2798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エラーで止まったら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776472"/>
            <a:ext cx="279806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ネット接続を確認し、同じコマンドをもう一度実行してください。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6. 起動と動作確認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6304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起動：object_detection_system.bat をダブルクリック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黒い画面が開き、自動でブラウザが起動します。開かない場合は下のURLを手動で開く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377440"/>
            <a:ext cx="493776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77440"/>
            <a:ext cx="4572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http://127.0.0.1:8000/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24612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カメラ確認：「データ収集」画面を開く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538727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カメラ映像が表示されればOK。映らない場合はUSB接続と、他アプリのカメラ使用を確認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7880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788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16052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停止：黒い画面で Ctrl +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45312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または黒い画面（コマンドプロンプト）をそのまま閉じる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383280" cy="22860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5910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ショートカット作成（推奨）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01952"/>
            <a:ext cx="298094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object_detection_system.bat を右クリック→「送る」→「デスクトップ（ショートカットを作成）」。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以降、作業者はアイコンをダブルクリックするだけで起動できます。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PLC SETUP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7. PLC設定ファイル（settings¥plc_settings.yaml）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23262E"/>
                </a:solidFill>
                <a:latin typeface="Meiryo"/>
                <a:ea typeface="Meiryo"/>
              </a:rPr>
              <a:t xml:space="preserve">PLC設定はすべてこの1ファイルにあります。メモ帳で開いて編集できます。主な項目：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85292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834640"/>
                <a:gridCol w="5120640"/>
                <a:gridCol w="31089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設定項目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意味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初期値／例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plc.enabled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実PLCに接続するか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test_server.enabled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ダミーPLC（テスト用）を使うか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true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connection.host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PLCのIPアドレス（現場に合わせて変更）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192.168.250.1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monitor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検査開始トリガーの監視ビット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W100.00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result_signal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判定結果をPLCへ返すビット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W200.00〜02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020055"/>
            <a:ext cx="10661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そのほかの項目（checker_api など）は変更不要です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30952"/>
            <a:ext cx="10661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上記以外の行はそのままにしてください。編集後はファイルを上書き保存し、システムを再起動すると反映されます。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PLC SETUP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7-2. 動作モード早見表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23262E"/>
                </a:solidFill>
                <a:latin typeface="Meiryo"/>
                <a:ea typeface="Meiryo"/>
              </a:rPr>
              <a:t xml:space="preserve">plc.enabled と test_server.enabled の組み合わせで動作が決まります。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83464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2011680"/>
                <a:gridCol w="54864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plc.enabled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test_server.enabled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モード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動作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false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761"/>
                          </a:solidFill>
                          <a:latin typeface="Meiryo"/>
                          <a:ea typeface="Meiryo"/>
                        </a:rPr>
                        <a:t xml:space="preserve">テストモード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PLCなしでダミーPLC画面から動作確認（初期設定）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true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false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E7D4F"/>
                          </a:solidFill>
                          <a:latin typeface="Meiryo"/>
                          <a:ea typeface="Meiryo"/>
                        </a:rPr>
                        <a:t xml:space="preserve">本番モード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実PLCと通信して自動検査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D97B29"/>
                          </a:solidFill>
                          <a:latin typeface="Meiryo"/>
                          <a:ea typeface="Meiryo"/>
                        </a:rPr>
                        <a:t xml:space="preserve">ブリッジモード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実PLCに接続しつつ、ブラウザからPLCビットを直接操作（操作盤）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false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false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PLC連携なし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Web画面の手動検査のみ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503834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038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5020055"/>
            <a:ext cx="10287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ブリッジモードの注意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5312664"/>
            <a:ext cx="1028700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ボタン操作が実PLCへ即時反映されます。設備が結線・稼働中の環境では誤操作に十分注意してください。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PLC SETUP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7-3. ビット仕様（PLCラダー設計者向け）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223760" cy="237744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36576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ビット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方向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意味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trigger（W100.00）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設備 → PC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OFF→ONの立ち上がりで検査開始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complete（W200.00）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PC → 設備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ONのとき次のトリガー受付可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ok（W200.01）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PC → 設備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判定OKでON。設備側で確認後、初期状態へ戻す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error（W200.02）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PC → 設備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判定NGまたは処理エラーでON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72237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動作ルール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・初期状態は trigger=OFF / complete=ON / ok=OFF / error=OFF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・trigger=OFF かつ complete=ON のときだけ新しいトリガーを受付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・トリガー検知直後に4ビットすべてOFF（二重起動防止）→ 検査実行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・OK時：ok=ON, complete=OFF ／ NG・エラー時：error=ON, complete=ON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・起動直後は一度 trigger=OFF を確認するまで受け付けない（誤動作防止）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11312" y="160934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609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0224" y="159105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エリア選定の注意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0224" y="1883664"/>
            <a:ext cx="2788920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必ずWエリアを使用。DMエリアは停電後も値が残り、古いトリガーが再処理される危険があります。</a:t>
            </a:r>
          </a:p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PLC側の IOM Hold（IOメモリ保持）は無効にしてください。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06908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4197096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通信仕様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4507992"/>
            <a:ext cx="316382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FINS/UDP（ポート9600）。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PCとPLCを同一ネットワークにし、ファイアウォールでUDP 9600を許可してください。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PLC SETUP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7-4. テストモードでの動作確認（PLC実機なし）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6304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設定を確認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plc_settings.yaml が plc.enabled: false / test_server.enabled: true（初期値）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2128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12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9456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ダミーPLCサーバーを起動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8716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コマンドプロンプトで以下を実行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743200"/>
            <a:ext cx="6583680" cy="969264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621792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cd C:\object_detection_system_plc_rfdetr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.venv\Scripts\activate</a:t>
            </a:r>
          </a:p>
          <a:p>
            <a:pPr>
              <a:lnSpc>
                <a:spcPct val="125000"/>
              </a:lnSpc>
            </a:pPr>
            <a:r>
              <a:rPr sz="1300" b="0">
                <a:solidFill>
                  <a:srgbClr val="E8EEFB"/>
                </a:solidFill>
                <a:latin typeface="Courier New"/>
                <a:ea typeface="Meiryo"/>
              </a:rPr>
              <a:t xml:space="preserve">python plc_test_server.py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977639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本体を起動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27024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別途 object_detection_system.bat をダブルクリック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70916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ダミーPLC画面から動作確認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001768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W100.00 をONにすると、撮影・推論が実行され結果ビットが変化すればOK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15910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ダミーPLC操作画面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1901952"/>
            <a:ext cx="298094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ブラウザで下のURLを開く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2331720"/>
            <a:ext cx="292608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59368" y="2331720"/>
            <a:ext cx="25603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100" b="0">
                <a:solidFill>
                  <a:srgbClr val="E8EEFB"/>
                </a:solidFill>
                <a:latin typeface="Courier New"/>
                <a:ea typeface="Meiryo"/>
              </a:rPr>
              <a:t xml:space="preserve">http://127.0.0.1:8010/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00400"/>
            <a:ext cx="3383280" cy="201168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32841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確認ポイント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639312"/>
            <a:ext cx="298094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・トリガーONで検査が動く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・OK時：okビットON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・NG時：errorビットON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・リセットで初期状態に戻る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PLC SETUP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7-5. 実PLCへの接続切り替え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55448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IPアドレスを設定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4708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plc_settings.yaml の connection.host を現場PLCのIPアドレスに変更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3172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本番モードへ変更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24327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plc.enabled: true ／ test_server.enabled: false にする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272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0896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システムを再起動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0156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batを起動し直す（PLC監視も同時に起動します）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0448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0448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8620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実機で確認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7880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設備側スイッチで trigger ビットをONにし、検査が実行されることを確認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383280" cy="19202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682495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状態がおかしいとき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1993391"/>
            <a:ext cx="298094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推論画面右上の「PLC結果リセット」ボタンで初期状態（trigger=OFF / complete=ON）に戻せます。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657600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3785615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接続確認のコツ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096512"/>
            <a:ext cx="298094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コマンドプロンプトで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ping 192.168.250.1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が通るか確認（IPは現場の値）。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JUDGMENT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8. 合否判定の仕組み（quality_verify.py）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50" b="0">
                <a:solidFill>
                  <a:srgbClr val="23262E"/>
                </a:solidFill>
                <a:latin typeface="Meiryo"/>
                <a:ea typeface="Meiryo"/>
              </a:rPr>
              <a:t xml:space="preserve">OK/NGの判定基準は、以下のプログラムファイルに書かれています。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7223760" cy="493776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68580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object_detection_system\checker\applications\quality_verify.py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2212848" cy="11887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Meiryo"/>
                <a:ea typeface="Meiryo"/>
              </a:rPr>
              <a:t xml:space="preserve">検出結果の集計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029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23262E"/>
                </a:solidFill>
                <a:latin typeface="Meiryo"/>
                <a:ea typeface="Meiryo"/>
              </a:rPr>
              <a:t xml:space="preserve">AIがラベルごとの個数を集計</a:t>
            </a:r>
          </a:p>
          <a:p>
            <a:pPr algn="ctr"/>
            <a:r>
              <a:rPr sz="950" b="0">
                <a:solidFill>
                  <a:srgbClr val="23262E"/>
                </a:solidFill>
                <a:latin typeface="Meiryo"/>
                <a:ea typeface="Meiryo"/>
              </a:rPr>
              <a:t xml:space="preserve">例：{'s': 8}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98064" y="2962656"/>
            <a:ext cx="274320" cy="274320"/>
          </a:xfrm>
          <a:prstGeom prst="rightArrow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08960" y="2514600"/>
            <a:ext cx="2212848" cy="11887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eiryo"/>
                <a:ea typeface="Meiryo"/>
              </a:rPr>
              <a:t xml:space="preserve">判定関数で照合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71800"/>
            <a:ext cx="2029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CADCFC"/>
                </a:solidFill>
                <a:latin typeface="Meiryo"/>
                <a:ea typeface="Meiryo"/>
              </a:rPr>
              <a:t xml:space="preserve">quality_verify.py の</a:t>
            </a:r>
          </a:p>
          <a:p>
            <a:pPr algn="ctr"/>
            <a:r>
              <a:rPr sz="950" b="0">
                <a:solidFill>
                  <a:srgbClr val="CADCFC"/>
                </a:solidFill>
                <a:latin typeface="Meiryo"/>
                <a:ea typeface="Meiryo"/>
              </a:rPr>
              <a:t xml:space="preserve">quality_verify 関数が判定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58383" y="2962656"/>
            <a:ext cx="274320" cy="274320"/>
          </a:xfrm>
          <a:prstGeom prst="rightArrow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79" y="2514600"/>
            <a:ext cx="2212848" cy="118872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19" y="2651760"/>
            <a:ext cx="2029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E2761"/>
                </a:solidFill>
                <a:latin typeface="Meiryo"/>
                <a:ea typeface="Meiryo"/>
              </a:rPr>
              <a:t xml:space="preserve">OK / 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19" y="2971800"/>
            <a:ext cx="20299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23262E"/>
                </a:solidFill>
                <a:latin typeface="Meiryo"/>
                <a:ea typeface="Meiryo"/>
              </a:rPr>
              <a:t xml:space="preserve">True＝OK、False＝NG</a:t>
            </a:r>
          </a:p>
          <a:p>
            <a:pPr algn="ctr"/>
            <a:r>
              <a:rPr sz="950" b="0">
                <a:solidFill>
                  <a:srgbClr val="23262E"/>
                </a:solidFill>
                <a:latin typeface="Meiryo"/>
                <a:ea typeface="Meiryo"/>
              </a:rPr>
              <a:t xml:space="preserve">画面表示・PLC通知へ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現在の判定基準（quality_verify）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389120"/>
          <a:ext cx="7223760" cy="1426464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4937760"/>
                <a:gridCol w="2286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検出結果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判定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検出されたラベル（クラス）の種類が 1種類だけ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4F"/>
                          </a:solidFill>
                          <a:latin typeface="Meiryo"/>
                          <a:ea typeface="Meiryo"/>
                        </a:rPr>
                        <a:t xml:space="preserve">OK（個数は問わない）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何も検出されない（0種類）、または2種類以上検出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362B"/>
                          </a:solidFill>
                          <a:latin typeface="Meiryo"/>
                          <a:ea typeface="Meiryo"/>
                        </a:rPr>
                        <a:t xml:space="preserve">NG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8229600" y="1691640"/>
            <a:ext cx="3383280" cy="201168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81965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quality_verify_common とは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130552"/>
            <a:ext cx="298094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同ファイル内にある動作確認用の緩い判定です。「1個でも何か検出されればOK」になります。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389120"/>
            <a:ext cx="3383280" cy="146304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517136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判定に使うラベル名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828031"/>
            <a:ext cx="298094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アノテーション時に登録したラベル名がそのまま使われます。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JUDGMENT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8-2. 判定基準を変更する方法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23262E"/>
                </a:solidFill>
                <a:latin typeface="Meiryo"/>
                <a:ea typeface="Meiryo"/>
              </a:rPr>
              <a:t xml:space="preserve">例：bolt が8個、nut が4個そろっていればOKにしたい場合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9164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変更前に必ずバックアップ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84248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quality_verify.py をコピーし quality_verify_backup.py の名前で同じフォルダに保存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1460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quality_verify.py の末尾に新しい判定関数を追加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880360"/>
            <a:ext cx="6583680" cy="1691640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6217920" cy="1691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def quality_verify_myproduct(result_dict):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    if result_dict.get("bolt") == 8 \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            and result_dict.get("nut") == 4: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        return True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    else:</a:t>
            </a:r>
          </a:p>
          <a:p>
            <a:pPr>
              <a:lnSpc>
                <a:spcPct val="125000"/>
              </a:lnSpc>
            </a:pPr>
            <a:r>
              <a:rPr sz="1050" b="0">
                <a:solidFill>
                  <a:srgbClr val="E8EEFB"/>
                </a:solidFill>
                <a:latin typeface="Courier New"/>
                <a:ea typeface="Meiryo"/>
              </a:rPr>
              <a:t xml:space="preserve">        return False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0916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呼び出し元を新しい関数名に変更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001768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checker\applications\snap_service.py の236行付近を書き換え、両ファイルを上書き保存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" y="5349240"/>
            <a:ext cx="6583680" cy="777240"/>
          </a:xfrm>
          <a:prstGeom prst="roundRect">
            <a:avLst>
              <a:gd name="adj" fmla="val 18000"/>
            </a:avLst>
          </a:prstGeom>
          <a:solidFill>
            <a:srgbClr val="23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349240"/>
            <a:ext cx="6217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950" b="0">
                <a:solidFill>
                  <a:srgbClr val="E8EEFB"/>
                </a:solidFill>
                <a:latin typeface="Courier New"/>
                <a:ea typeface="Meiryo"/>
              </a:rPr>
              <a:t xml:space="preserve"># 変更前: result = quality_verify.quality_verify(result_dict)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E8EEFB"/>
                </a:solidFill>
                <a:latin typeface="Courier New"/>
                <a:ea typeface="Meiryo"/>
              </a:rPr>
              <a:t xml:space="preserve"># 変更後: result = quality_verify.quality_verify_myproduct(result_dict)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91640"/>
            <a:ext cx="3566160" cy="201168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11312" y="183794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8379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181965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インデントを崩さない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2112264"/>
            <a:ext cx="2788920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Pythonは行頭の空白（インデント）で構造が決まります。既存の関数をコピーして書き換えるのが安全です。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566160" cy="201168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11312" y="407822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4078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4059935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ラベル名は完全一致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4352544"/>
            <a:ext cx="2788920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bolt 等の名前は、アノテーションで登録したラベル名と完全に一致させてください（大文字・小文字も区別）。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JUDGMENT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8-3. 変更した場合の対処（必ず実施）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6304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システムを再起動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755648"/>
            <a:ext cx="6601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黒い画面をすべて閉じて、batを起動し直す。再起動しないと変更は反映されません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37744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OK品で手動検査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7004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正しい員数の箱で検査し、OKになることを確認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5468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NG品で手動検査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4728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わざと1個抜いた箱・1個多い箱で検査し、NGになることを確認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50207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5020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93192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PLC連携時はトリガー検査も確認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22452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ダミーPLCまたは実機で、OK/NGビットが正しく変化することを確認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709160"/>
            <a:ext cx="66019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3262E"/>
                </a:solidFill>
                <a:latin typeface="Meiryo"/>
                <a:ea typeface="Meiryo"/>
              </a:rPr>
              <a:t xml:space="preserve">変更記録を残す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001768"/>
            <a:ext cx="6601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5A6272"/>
                </a:solidFill>
                <a:latin typeface="Meiryo"/>
                <a:ea typeface="Meiryo"/>
              </a:rPr>
              <a:t xml:space="preserve">変更日・変更内容・確認結果をメモに残す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463040"/>
            <a:ext cx="3566160" cy="2514600"/>
          </a:xfrm>
          <a:prstGeom prst="roundRect">
            <a:avLst>
              <a:gd name="adj" fmla="val 12000"/>
            </a:avLst>
          </a:prstGeom>
          <a:solidFill>
            <a:srgbClr val="FD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1312" y="1609344"/>
            <a:ext cx="310896" cy="310896"/>
          </a:xfrm>
          <a:prstGeom prst="ellipse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1609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 xml:space="preserve"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1591056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rgbClr val="8A4B12"/>
                </a:solidFill>
                <a:latin typeface="Meiryo"/>
                <a:ea typeface="Meiryo"/>
              </a:rPr>
              <a:t xml:space="preserve">エラーが出る・常にNGのとき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0224" y="1883664"/>
            <a:ext cx="2788920" cy="2002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書き間違い（インデント崩れ、コロン忘れ、括弧の閉じ忘れ）とラベル名の不一致が典型原因です。</a:t>
            </a:r>
          </a:p>
          <a:p>
            <a:r>
              <a:rPr sz="1100" b="0">
                <a:solidFill>
                  <a:srgbClr val="8A4B12"/>
                </a:solidFill>
                <a:latin typeface="Meiryo"/>
                <a:ea typeface="Meiryo"/>
              </a:rPr>
              <a:t xml:space="preserve">復旧できない場合はバックアップの内容を quality_verify.py に書き戻して再起動すれば元に戻ります。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4206240"/>
            <a:ext cx="3566160" cy="155448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4334255"/>
            <a:ext cx="3163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確認のポイント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645152"/>
            <a:ext cx="31638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23262E"/>
                </a:solidFill>
                <a:latin typeface="Meiryo"/>
                <a:ea typeface="Meiryo"/>
              </a:rPr>
              <a:t xml:space="preserve">OK品とNG品の両方で確認しないと、「常にOK」という危険な間違いに気付けません。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rgbClr val="3A4A8C"/>
                </a:solidFill>
                <a:latin typeface="Meiryo"/>
                <a:ea typeface="Meiryo"/>
              </a:rPr>
              <a:t xml:space="preserve">OPERATION &amp; TROUBLE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3262E"/>
                </a:solidFill>
                <a:latin typeface="Meiryo"/>
                <a:ea typeface="Meiryo"/>
              </a:rPr>
              <a:t xml:space="preserve">9. 日常の起動・停止 ／ 10. トラブルシューティング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4937760" cy="228600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操作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方法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起動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デスクトップのショートカットをダブルクリック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画面を開く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http://127.0.0.1:8000/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停止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黒い画面で Ctrl + C、または画面を閉じる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PLC状態リセット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推論画面右上の「PLC結果リセット」ボタン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06440" y="1463040"/>
          <a:ext cx="5806440" cy="438912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1965960"/>
                <a:gridCol w="384048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症状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 xml:space="preserve">確認・対処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batで起動しない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セットアップ完了済みか。py --version が表示されるか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ブラウザに接続できない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黒い画面が起動しているか。URLが正しいか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カメラ映像が出ない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USB接続／他アプリの使用／カメラプライバシー設定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PLCトリガーで動かない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モード設定 → PLCへping →「PLC結果リセット」の順に確認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次のトリガーを受け付けない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OK後は設備側で初期状態に戻す設計。復旧は「PLC結果リセット」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PLC監視が二重起動で終了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すでに起動済み。すべて閉じてから再起動</a:t>
                      </a:r>
                    </a:p>
                  </a:txBody>
                  <a:tcPr marL="73152" marR="73152" marT="27432" marB="27432" anchor="ctr">
                    <a:solidFill>
                      <a:srgbClr val="F4F7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判定基準変更後に常にNG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3262E"/>
                          </a:solidFill>
                          <a:latin typeface="Meiryo"/>
                          <a:ea typeface="Meiryo"/>
                        </a:rPr>
                        <a:t xml:space="preserve">8-3参照。書き間違い・ラベル名不一致。復旧はバックアップから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77639"/>
            <a:ext cx="4937760" cy="1600200"/>
          </a:xfrm>
          <a:prstGeom prst="roundRect">
            <a:avLst>
              <a:gd name="adj" fmla="val 12000"/>
            </a:avLst>
          </a:prstGeom>
          <a:solidFill>
            <a:srgbClr val="EE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105655"/>
            <a:ext cx="4535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Meiryo"/>
                <a:ea typeface="Meiryo"/>
              </a:rPr>
              <a:t xml:space="preserve">困ったときの基本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416552"/>
            <a:ext cx="45354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① 黒い画面をすべて閉じて再起動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② 改善しなければPC再起動</a:t>
            </a:r>
          </a:p>
          <a:p>
            <a:r>
              <a:rPr sz="1150" b="0">
                <a:solidFill>
                  <a:srgbClr val="23262E"/>
                </a:solidFill>
                <a:latin typeface="Meiryo"/>
                <a:ea typeface="Meiryo"/>
              </a:rPr>
              <a:t xml:space="preserve">③ それでもダメなら詳細資料へ（次ページ）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4389120"/>
            <a:ext cx="4754880" cy="4754880"/>
          </a:xfrm>
          <a:prstGeom prst="ellipse">
            <a:avLst/>
          </a:prstGeom>
          <a:noFill/>
          <a:ln w="19050">
            <a:solidFill>
              <a:srgbClr val="3A4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486400"/>
            <a:ext cx="2560320" cy="2560320"/>
          </a:xfrm>
          <a:prstGeom prst="ellipse">
            <a:avLst/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rgbClr val="CADCFC"/>
                </a:solidFill>
                <a:latin typeface="Meiryo"/>
                <a:ea typeface="Meiryo"/>
              </a:rPr>
              <a:t xml:space="preserve"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Meiryo"/>
                <a:ea typeface="Meiryo"/>
              </a:rPr>
              <a:t xml:space="preserve">さらに詳しく知りたいとき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8778240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ourier New"/>
                <a:ea typeface="Meiryo"/>
              </a:rPr>
              <a:t xml:space="preserve">README.md　</a:t>
            </a: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 xml:space="preserve">システム全体・PLC仕様の詳細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9232"/>
            <a:ext cx="8778240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ourier New"/>
                <a:ea typeface="Meiryo"/>
              </a:rPr>
              <a:t xml:space="preserve">zzz_docs/plc_monitor_flow.md　</a:t>
            </a: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 xml:space="preserve">PLC監視の内部動作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12464"/>
            <a:ext cx="8778240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712464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ourier New"/>
                <a:ea typeface="Meiryo"/>
              </a:rPr>
              <a:t xml:space="preserve">zzz_manuals/DETECT_CONF.md　</a:t>
            </a: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 xml:space="preserve">推論の詳細設定（settings/rfdetr_detect.yaml）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25696"/>
            <a:ext cx="8778240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425696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ourier New"/>
                <a:ea typeface="Meiryo"/>
              </a:rPr>
              <a:t xml:space="preserve">zzz_manuals/TRAINING_CONF.md　</a:t>
            </a: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 xml:space="preserve">学習の詳細設定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38928"/>
            <a:ext cx="8778240" cy="566928"/>
          </a:xfrm>
          <a:prstGeom prst="roundRect">
            <a:avLst>
              <a:gd name="adj" fmla="val 12000"/>
            </a:avLst>
          </a:prstGeom>
          <a:solidFill>
            <a:srgbClr val="3A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38928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Courier New"/>
                <a:ea typeface="Meiryo"/>
              </a:rPr>
              <a:t xml:space="preserve">zzz_manuals/OPERATION_MANUAL_作業者向け　</a:t>
            </a:r>
            <a:r>
              <a:rPr sz="1200" b="0">
                <a:solidFill>
                  <a:srgbClr val="CADCFC"/>
                </a:solidFill>
                <a:latin typeface="Meiryo"/>
                <a:ea typeface="Meiryo"/>
              </a:rPr>
              <a:t xml:space="preserve">日常の使い方は運用マニュアルへ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CADCFC"/>
                </a:solidFill>
                <a:latin typeface="Meiryo"/>
                <a:ea typeface="Meiryo"/>
              </a:rPr>
              <a:t xml:space="preserve">セットアップは以上です。日常の検査作業は「運用マニュアル（作業者向け）」をご覧ください。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A6272"/>
                </a:solidFill>
                <a:latin typeface="Meiryo"/>
                <a:ea typeface="Meiryo"/>
              </a:rPr>
              <a:t xml:space="preserve"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