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Oval 1"/>
          <p:cNvSpPr/>
          <p:nvPr/>
        </p:nvSpPr>
        <p:spPr>
          <a:xfrm>
            <a:off x="8595360" y="-1645920"/>
            <a:ext cx="5852160" cy="5852160"/>
          </a:xfrm>
          <a:prstGeom prst="ellipse">
            <a:avLst/>
          </a:prstGeom>
          <a:noFill/>
          <a:ln w="19050">
            <a:solidFill>
              <a:srgbClr val="3A4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509760" y="-731520"/>
            <a:ext cx="4023360" cy="4023360"/>
          </a:xfrm>
          <a:prstGeom prst="ellipse">
            <a:avLst/>
          </a:prstGeom>
          <a:noFill/>
          <a:ln w="19050">
            <a:solidFill>
              <a:srgbClr val="3A4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424160" y="182880"/>
            <a:ext cx="2194560" cy="2194560"/>
          </a:xfrm>
          <a:prstGeom prst="ellipse">
            <a:avLst/>
          </a:prstGeom>
          <a:solidFill>
            <a:srgbClr val="3A4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28800"/>
            <a:ext cx="9144000" cy="411480"/>
          </a:xfrm>
          <a:prstGeom prst="rect">
            <a:avLst/>
          </a:prstGeom>
          <a:noFill/>
        </p:spPr>
        <p:txBody>
          <a:bodyPr wrap="square" lIns="0" rIns="0" tIns="0" bIns="0" anchor="t">
            <a:spAutoFit/>
          </a:bodyPr>
          <a:lstStyle/>
          <a:p>
            <a:r>
              <a:rPr sz="1500" b="1">
                <a:solidFill>
                  <a:srgbClr val="CADCFC"/>
                </a:solidFill>
                <a:latin typeface="Meiryo"/>
                <a:ea typeface="Meiryo"/>
              </a:rPr>
              <a:t xml:space="preserve">生産現場作業者向け</a:t>
            </a:r>
          </a:p>
        </p:txBody>
      </p:sp>
      <p:sp>
        <p:nvSpPr>
          <p:cNvPr id="6" name="TextBox 5"/>
          <p:cNvSpPr txBox="1"/>
          <p:nvPr/>
        </p:nvSpPr>
        <p:spPr>
          <a:xfrm>
            <a:off x="822960" y="2286000"/>
            <a:ext cx="10515600" cy="1737360"/>
          </a:xfrm>
          <a:prstGeom prst="rect">
            <a:avLst/>
          </a:prstGeom>
          <a:noFill/>
        </p:spPr>
        <p:txBody>
          <a:bodyPr wrap="square" lIns="0" rIns="0" tIns="0" bIns="0" anchor="t">
            <a:spAutoFit/>
          </a:bodyPr>
          <a:lstStyle/>
          <a:p>
            <a:pPr>
              <a:lnSpc>
                <a:spcPct val="115000"/>
              </a:lnSpc>
            </a:pPr>
            <a:r>
              <a:rPr sz="4000" b="1">
                <a:solidFill>
                  <a:srgbClr val="FFFFFF"/>
                </a:solidFill>
                <a:latin typeface="Meiryo"/>
                <a:ea typeface="Meiryo"/>
              </a:rPr>
              <a:t xml:space="preserve">員数チェックシステム</a:t>
            </a:r>
          </a:p>
          <a:p>
            <a:pPr>
              <a:lnSpc>
                <a:spcPct val="115000"/>
              </a:lnSpc>
            </a:pPr>
            <a:r>
              <a:rPr sz="4000" b="1">
                <a:solidFill>
                  <a:srgbClr val="FFFFFF"/>
                </a:solidFill>
                <a:latin typeface="Meiryo"/>
                <a:ea typeface="Meiryo"/>
              </a:rPr>
              <a:t xml:space="preserve">運用マニュアル</a:t>
            </a:r>
          </a:p>
        </p:txBody>
      </p:sp>
      <p:sp>
        <p:nvSpPr>
          <p:cNvPr id="7" name="TextBox 6"/>
          <p:cNvSpPr txBox="1"/>
          <p:nvPr/>
        </p:nvSpPr>
        <p:spPr>
          <a:xfrm>
            <a:off x="822960" y="4206240"/>
            <a:ext cx="10241280" cy="777240"/>
          </a:xfrm>
          <a:prstGeom prst="rect">
            <a:avLst/>
          </a:prstGeom>
          <a:noFill/>
        </p:spPr>
        <p:txBody>
          <a:bodyPr wrap="square" lIns="0" rIns="0" tIns="0" bIns="0" anchor="t">
            <a:spAutoFit/>
          </a:bodyPr>
          <a:lstStyle/>
          <a:p>
            <a:pPr>
              <a:lnSpc>
                <a:spcPct val="130000"/>
              </a:lnSpc>
            </a:pPr>
            <a:r>
              <a:rPr sz="1500" b="0">
                <a:solidFill>
                  <a:srgbClr val="CADCFC"/>
                </a:solidFill>
                <a:latin typeface="Meiryo"/>
                <a:ea typeface="Meiryo"/>
              </a:rPr>
              <a:t xml:space="preserve">カメラで出荷箱を撮影し、AIが部品の数を自動で数えて OK / NG を判定します</a:t>
            </a:r>
          </a:p>
          <a:p>
            <a:pPr>
              <a:lnSpc>
                <a:spcPct val="130000"/>
              </a:lnSpc>
            </a:pPr>
            <a:r>
              <a:rPr sz="1500" b="0">
                <a:solidFill>
                  <a:srgbClr val="CADCFC"/>
                </a:solidFill>
                <a:latin typeface="Meiryo"/>
                <a:ea typeface="Meiryo"/>
              </a:rPr>
              <a:t xml:space="preserve">データ取得 → アノテーション → 学習 → 推論（員数チェック）までの全手順</a:t>
            </a:r>
          </a:p>
        </p:txBody>
      </p:sp>
      <p:sp>
        <p:nvSpPr>
          <p:cNvPr id="8" name="Rounded Rectangle 7"/>
          <p:cNvSpPr/>
          <p:nvPr/>
        </p:nvSpPr>
        <p:spPr>
          <a:xfrm>
            <a:off x="822960" y="5394960"/>
            <a:ext cx="7498079" cy="566928"/>
          </a:xfrm>
          <a:prstGeom prst="roundRect">
            <a:avLst>
              <a:gd name="adj" fmla="val 12000"/>
            </a:avLst>
          </a:prstGeom>
          <a:solidFill>
            <a:srgbClr val="3A4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5394960"/>
            <a:ext cx="7132320" cy="566928"/>
          </a:xfrm>
          <a:prstGeom prst="rect">
            <a:avLst/>
          </a:prstGeom>
          <a:noFill/>
        </p:spPr>
        <p:txBody>
          <a:bodyPr wrap="square" lIns="0" rIns="0" tIns="0" bIns="0" anchor="ctr">
            <a:spAutoFit/>
          </a:bodyPr>
          <a:lstStyle/>
          <a:p>
            <a:r>
              <a:rPr sz="1250" b="0">
                <a:solidFill>
                  <a:srgbClr val="FFFFFF"/>
                </a:solidFill>
                <a:latin typeface="Meiryo"/>
                <a:ea typeface="Meiryo"/>
              </a:rPr>
              <a:t xml:space="preserve">プログラミング知識は不要です。画面の操作だけで作業できます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64240" cy="292608"/>
          </a:xfrm>
          <a:prstGeom prst="rect">
            <a:avLst/>
          </a:prstGeom>
          <a:noFill/>
        </p:spPr>
        <p:txBody>
          <a:bodyPr wrap="square" lIns="0" rIns="0" tIns="0" bIns="0" anchor="t">
            <a:spAutoFit/>
          </a:bodyPr>
          <a:lstStyle/>
          <a:p>
            <a:r>
              <a:rPr sz="1200" b="1">
                <a:solidFill>
                  <a:srgbClr val="3A4A8C"/>
                </a:solidFill>
                <a:latin typeface="Meiryo"/>
                <a:ea typeface="Meiryo"/>
              </a:rPr>
              <a:t xml:space="preserve">WORKFLOW</a:t>
            </a:r>
          </a:p>
        </p:txBody>
      </p:sp>
      <p:sp>
        <p:nvSpPr>
          <p:cNvPr id="3" name="TextBox 2"/>
          <p:cNvSpPr txBox="1"/>
          <p:nvPr/>
        </p:nvSpPr>
        <p:spPr>
          <a:xfrm>
            <a:off x="548640" y="566928"/>
            <a:ext cx="11064240" cy="603504"/>
          </a:xfrm>
          <a:prstGeom prst="rect">
            <a:avLst/>
          </a:prstGeom>
          <a:noFill/>
        </p:spPr>
        <p:txBody>
          <a:bodyPr wrap="square" lIns="0" rIns="0" tIns="0" bIns="0" anchor="t">
            <a:spAutoFit/>
          </a:bodyPr>
          <a:lstStyle/>
          <a:p>
            <a:r>
              <a:rPr sz="2600" b="1">
                <a:solidFill>
                  <a:srgbClr val="23262E"/>
                </a:solidFill>
                <a:latin typeface="Meiryo"/>
                <a:ea typeface="Meiryo"/>
              </a:rPr>
              <a:t xml:space="preserve">1. 全体の流れ</a:t>
            </a:r>
          </a:p>
        </p:txBody>
      </p:sp>
      <p:sp>
        <p:nvSpPr>
          <p:cNvPr id="4" name="Rounded Rectangle 3"/>
          <p:cNvSpPr/>
          <p:nvPr/>
        </p:nvSpPr>
        <p:spPr>
          <a:xfrm>
            <a:off x="548640" y="1554480"/>
            <a:ext cx="2011680" cy="1600200"/>
          </a:xfrm>
          <a:prstGeom prst="roundRect">
            <a:avLst>
              <a:gd name="adj" fmla="val 12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362456" y="1700784"/>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62456" y="1700784"/>
            <a:ext cx="384048" cy="384048"/>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1</a:t>
            </a:r>
          </a:p>
        </p:txBody>
      </p:sp>
      <p:sp>
        <p:nvSpPr>
          <p:cNvPr id="7" name="TextBox 6"/>
          <p:cNvSpPr txBox="1"/>
          <p:nvPr/>
        </p:nvSpPr>
        <p:spPr>
          <a:xfrm>
            <a:off x="548640" y="2139696"/>
            <a:ext cx="2011680" cy="320040"/>
          </a:xfrm>
          <a:prstGeom prst="rect">
            <a:avLst/>
          </a:prstGeom>
          <a:noFill/>
        </p:spPr>
        <p:txBody>
          <a:bodyPr wrap="square" lIns="0" rIns="0" tIns="0" bIns="0" anchor="t">
            <a:spAutoFit/>
          </a:bodyPr>
          <a:lstStyle/>
          <a:p>
            <a:pPr algn="ctr"/>
            <a:r>
              <a:rPr sz="1350" b="1">
                <a:solidFill>
                  <a:srgbClr val="1E2761"/>
                </a:solidFill>
                <a:latin typeface="Meiryo"/>
                <a:ea typeface="Meiryo"/>
              </a:rPr>
              <a:t xml:space="preserve">データ収集</a:t>
            </a:r>
          </a:p>
        </p:txBody>
      </p:sp>
      <p:sp>
        <p:nvSpPr>
          <p:cNvPr id="8" name="TextBox 7"/>
          <p:cNvSpPr txBox="1"/>
          <p:nvPr/>
        </p:nvSpPr>
        <p:spPr>
          <a:xfrm>
            <a:off x="621792" y="2468880"/>
            <a:ext cx="1865376" cy="640080"/>
          </a:xfrm>
          <a:prstGeom prst="rect">
            <a:avLst/>
          </a:prstGeom>
          <a:noFill/>
        </p:spPr>
        <p:txBody>
          <a:bodyPr wrap="square" lIns="0" rIns="0" tIns="0" bIns="0" anchor="t">
            <a:spAutoFit/>
          </a:bodyPr>
          <a:lstStyle/>
          <a:p>
            <a:pPr algn="ctr"/>
            <a:r>
              <a:rPr sz="1000" b="0">
                <a:solidFill>
                  <a:srgbClr val="23262E"/>
                </a:solidFill>
                <a:latin typeface="Meiryo"/>
                <a:ea typeface="Meiryo"/>
              </a:rPr>
              <a:t xml:space="preserve">検査対象を撮影して</a:t>
            </a:r>
          </a:p>
          <a:p>
            <a:pPr algn="ctr"/>
            <a:r>
              <a:rPr sz="1000" b="0">
                <a:solidFill>
                  <a:srgbClr val="23262E"/>
                </a:solidFill>
                <a:latin typeface="Meiryo"/>
                <a:ea typeface="Meiryo"/>
              </a:rPr>
              <a:t xml:space="preserve">画像を集める</a:t>
            </a:r>
          </a:p>
        </p:txBody>
      </p:sp>
      <p:sp>
        <p:nvSpPr>
          <p:cNvPr id="9" name="Right Arrow 8"/>
          <p:cNvSpPr/>
          <p:nvPr/>
        </p:nvSpPr>
        <p:spPr>
          <a:xfrm>
            <a:off x="2578608" y="2212848"/>
            <a:ext cx="274320" cy="274320"/>
          </a:xfrm>
          <a:prstGeom prst="rightArrow">
            <a:avLst/>
          </a:prstGeom>
          <a:solidFill>
            <a:srgbClr val="3A4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80360" y="1554480"/>
            <a:ext cx="2011680" cy="1600200"/>
          </a:xfrm>
          <a:prstGeom prst="roundRect">
            <a:avLst>
              <a:gd name="adj" fmla="val 12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94176" y="1700784"/>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94176" y="1700784"/>
            <a:ext cx="384048" cy="384048"/>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2</a:t>
            </a:r>
          </a:p>
        </p:txBody>
      </p:sp>
      <p:sp>
        <p:nvSpPr>
          <p:cNvPr id="13" name="TextBox 12"/>
          <p:cNvSpPr txBox="1"/>
          <p:nvPr/>
        </p:nvSpPr>
        <p:spPr>
          <a:xfrm>
            <a:off x="2880360" y="2139696"/>
            <a:ext cx="2011680" cy="320040"/>
          </a:xfrm>
          <a:prstGeom prst="rect">
            <a:avLst/>
          </a:prstGeom>
          <a:noFill/>
        </p:spPr>
        <p:txBody>
          <a:bodyPr wrap="square" lIns="0" rIns="0" tIns="0" bIns="0" anchor="t">
            <a:spAutoFit/>
          </a:bodyPr>
          <a:lstStyle/>
          <a:p>
            <a:pPr algn="ctr"/>
            <a:r>
              <a:rPr sz="1350" b="1">
                <a:solidFill>
                  <a:srgbClr val="1E2761"/>
                </a:solidFill>
                <a:latin typeface="Meiryo"/>
                <a:ea typeface="Meiryo"/>
              </a:rPr>
              <a:t xml:space="preserve">画像切り抜き</a:t>
            </a:r>
          </a:p>
        </p:txBody>
      </p:sp>
      <p:sp>
        <p:nvSpPr>
          <p:cNvPr id="14" name="TextBox 13"/>
          <p:cNvSpPr txBox="1"/>
          <p:nvPr/>
        </p:nvSpPr>
        <p:spPr>
          <a:xfrm>
            <a:off x="2953512" y="2468880"/>
            <a:ext cx="1865376" cy="640080"/>
          </a:xfrm>
          <a:prstGeom prst="rect">
            <a:avLst/>
          </a:prstGeom>
          <a:noFill/>
        </p:spPr>
        <p:txBody>
          <a:bodyPr wrap="square" lIns="0" rIns="0" tIns="0" bIns="0" anchor="t">
            <a:spAutoFit/>
          </a:bodyPr>
          <a:lstStyle/>
          <a:p>
            <a:pPr algn="ctr"/>
            <a:r>
              <a:rPr sz="1000" b="0">
                <a:solidFill>
                  <a:srgbClr val="23262E"/>
                </a:solidFill>
                <a:latin typeface="Meiryo"/>
                <a:ea typeface="Meiryo"/>
              </a:rPr>
              <a:t xml:space="preserve">必要な範囲だけ</a:t>
            </a:r>
          </a:p>
          <a:p>
            <a:pPr algn="ctr"/>
            <a:r>
              <a:rPr sz="1000" b="0">
                <a:solidFill>
                  <a:srgbClr val="23262E"/>
                </a:solidFill>
                <a:latin typeface="Meiryo"/>
                <a:ea typeface="Meiryo"/>
              </a:rPr>
              <a:t xml:space="preserve">切り出す（省略可）</a:t>
            </a:r>
          </a:p>
        </p:txBody>
      </p:sp>
      <p:sp>
        <p:nvSpPr>
          <p:cNvPr id="15" name="Right Arrow 14"/>
          <p:cNvSpPr/>
          <p:nvPr/>
        </p:nvSpPr>
        <p:spPr>
          <a:xfrm>
            <a:off x="4910328" y="2212848"/>
            <a:ext cx="274320" cy="274320"/>
          </a:xfrm>
          <a:prstGeom prst="rightArrow">
            <a:avLst/>
          </a:prstGeom>
          <a:solidFill>
            <a:srgbClr val="3A4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212080" y="1554480"/>
            <a:ext cx="2011680" cy="1600200"/>
          </a:xfrm>
          <a:prstGeom prst="roundRect">
            <a:avLst>
              <a:gd name="adj" fmla="val 12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025896" y="1700784"/>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25896" y="1700784"/>
            <a:ext cx="384048" cy="384048"/>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3</a:t>
            </a:r>
          </a:p>
        </p:txBody>
      </p:sp>
      <p:sp>
        <p:nvSpPr>
          <p:cNvPr id="19" name="TextBox 18"/>
          <p:cNvSpPr txBox="1"/>
          <p:nvPr/>
        </p:nvSpPr>
        <p:spPr>
          <a:xfrm>
            <a:off x="5212080" y="2139696"/>
            <a:ext cx="2011680" cy="320040"/>
          </a:xfrm>
          <a:prstGeom prst="rect">
            <a:avLst/>
          </a:prstGeom>
          <a:noFill/>
        </p:spPr>
        <p:txBody>
          <a:bodyPr wrap="square" lIns="0" rIns="0" tIns="0" bIns="0" anchor="t">
            <a:spAutoFit/>
          </a:bodyPr>
          <a:lstStyle/>
          <a:p>
            <a:pPr algn="ctr"/>
            <a:r>
              <a:rPr sz="1350" b="1">
                <a:solidFill>
                  <a:srgbClr val="1E2761"/>
                </a:solidFill>
                <a:latin typeface="Meiryo"/>
                <a:ea typeface="Meiryo"/>
              </a:rPr>
              <a:t xml:space="preserve">アノテーション</a:t>
            </a:r>
          </a:p>
        </p:txBody>
      </p:sp>
      <p:sp>
        <p:nvSpPr>
          <p:cNvPr id="20" name="TextBox 19"/>
          <p:cNvSpPr txBox="1"/>
          <p:nvPr/>
        </p:nvSpPr>
        <p:spPr>
          <a:xfrm>
            <a:off x="5285232" y="2468880"/>
            <a:ext cx="1865376" cy="640080"/>
          </a:xfrm>
          <a:prstGeom prst="rect">
            <a:avLst/>
          </a:prstGeom>
          <a:noFill/>
        </p:spPr>
        <p:txBody>
          <a:bodyPr wrap="square" lIns="0" rIns="0" tIns="0" bIns="0" anchor="t">
            <a:spAutoFit/>
          </a:bodyPr>
          <a:lstStyle/>
          <a:p>
            <a:pPr algn="ctr"/>
            <a:r>
              <a:rPr sz="1000" b="0">
                <a:solidFill>
                  <a:srgbClr val="23262E"/>
                </a:solidFill>
                <a:latin typeface="Meiryo"/>
                <a:ea typeface="Meiryo"/>
              </a:rPr>
              <a:t xml:space="preserve">部品に枠とラベルを</a:t>
            </a:r>
          </a:p>
          <a:p>
            <a:pPr algn="ctr"/>
            <a:r>
              <a:rPr sz="1000" b="0">
                <a:solidFill>
                  <a:srgbClr val="23262E"/>
                </a:solidFill>
                <a:latin typeface="Meiryo"/>
                <a:ea typeface="Meiryo"/>
              </a:rPr>
              <a:t xml:space="preserve">付けてAIに教える</a:t>
            </a:r>
          </a:p>
        </p:txBody>
      </p:sp>
      <p:sp>
        <p:nvSpPr>
          <p:cNvPr id="21" name="Right Arrow 20"/>
          <p:cNvSpPr/>
          <p:nvPr/>
        </p:nvSpPr>
        <p:spPr>
          <a:xfrm>
            <a:off x="7242048" y="2212848"/>
            <a:ext cx="274320" cy="274320"/>
          </a:xfrm>
          <a:prstGeom prst="rightArrow">
            <a:avLst/>
          </a:prstGeom>
          <a:solidFill>
            <a:srgbClr val="3A4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543800" y="1554480"/>
            <a:ext cx="2011680" cy="1600200"/>
          </a:xfrm>
          <a:prstGeom prst="roundRect">
            <a:avLst>
              <a:gd name="adj" fmla="val 12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357616" y="1700784"/>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57616" y="1700784"/>
            <a:ext cx="384048" cy="384048"/>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4</a:t>
            </a:r>
          </a:p>
        </p:txBody>
      </p:sp>
      <p:sp>
        <p:nvSpPr>
          <p:cNvPr id="25" name="TextBox 24"/>
          <p:cNvSpPr txBox="1"/>
          <p:nvPr/>
        </p:nvSpPr>
        <p:spPr>
          <a:xfrm>
            <a:off x="7543800" y="2139696"/>
            <a:ext cx="2011680" cy="320040"/>
          </a:xfrm>
          <a:prstGeom prst="rect">
            <a:avLst/>
          </a:prstGeom>
          <a:noFill/>
        </p:spPr>
        <p:txBody>
          <a:bodyPr wrap="square" lIns="0" rIns="0" tIns="0" bIns="0" anchor="t">
            <a:spAutoFit/>
          </a:bodyPr>
          <a:lstStyle/>
          <a:p>
            <a:pPr algn="ctr"/>
            <a:r>
              <a:rPr sz="1350" b="1">
                <a:solidFill>
                  <a:srgbClr val="1E2761"/>
                </a:solidFill>
                <a:latin typeface="Meiryo"/>
                <a:ea typeface="Meiryo"/>
              </a:rPr>
              <a:t xml:space="preserve">学習</a:t>
            </a:r>
          </a:p>
        </p:txBody>
      </p:sp>
      <p:sp>
        <p:nvSpPr>
          <p:cNvPr id="26" name="TextBox 25"/>
          <p:cNvSpPr txBox="1"/>
          <p:nvPr/>
        </p:nvSpPr>
        <p:spPr>
          <a:xfrm>
            <a:off x="7616952" y="2468880"/>
            <a:ext cx="1865376" cy="640080"/>
          </a:xfrm>
          <a:prstGeom prst="rect">
            <a:avLst/>
          </a:prstGeom>
          <a:noFill/>
        </p:spPr>
        <p:txBody>
          <a:bodyPr wrap="square" lIns="0" rIns="0" tIns="0" bIns="0" anchor="t">
            <a:spAutoFit/>
          </a:bodyPr>
          <a:lstStyle/>
          <a:p>
            <a:pPr algn="ctr"/>
            <a:r>
              <a:rPr sz="1000" b="0">
                <a:solidFill>
                  <a:srgbClr val="23262E"/>
                </a:solidFill>
                <a:latin typeface="Meiryo"/>
                <a:ea typeface="Meiryo"/>
              </a:rPr>
              <a:t xml:space="preserve">AIに部品を</a:t>
            </a:r>
          </a:p>
          <a:p>
            <a:pPr algn="ctr"/>
            <a:r>
              <a:rPr sz="1000" b="0">
                <a:solidFill>
                  <a:srgbClr val="23262E"/>
                </a:solidFill>
                <a:latin typeface="Meiryo"/>
                <a:ea typeface="Meiryo"/>
              </a:rPr>
              <a:t xml:space="preserve">覚えさせる</a:t>
            </a:r>
          </a:p>
        </p:txBody>
      </p:sp>
      <p:sp>
        <p:nvSpPr>
          <p:cNvPr id="27" name="Right Arrow 26"/>
          <p:cNvSpPr/>
          <p:nvPr/>
        </p:nvSpPr>
        <p:spPr>
          <a:xfrm>
            <a:off x="9573768" y="2212848"/>
            <a:ext cx="274320" cy="274320"/>
          </a:xfrm>
          <a:prstGeom prst="rightArrow">
            <a:avLst/>
          </a:prstGeom>
          <a:solidFill>
            <a:srgbClr val="3A4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875520" y="1554480"/>
            <a:ext cx="2011680" cy="1600200"/>
          </a:xfrm>
          <a:prstGeom prst="roundRect">
            <a:avLst>
              <a:gd name="adj" fmla="val 12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689336" y="1700784"/>
            <a:ext cx="384048" cy="3840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689336" y="1700784"/>
            <a:ext cx="384048" cy="384048"/>
          </a:xfrm>
          <a:prstGeom prst="rect">
            <a:avLst/>
          </a:prstGeom>
          <a:noFill/>
        </p:spPr>
        <p:txBody>
          <a:bodyPr wrap="square" lIns="0" rIns="0" tIns="0" bIns="0" anchor="ctr">
            <a:spAutoFit/>
          </a:bodyPr>
          <a:lstStyle/>
          <a:p>
            <a:pPr algn="ctr"/>
            <a:r>
              <a:rPr sz="1500" b="1">
                <a:solidFill>
                  <a:srgbClr val="1E2761"/>
                </a:solidFill>
                <a:latin typeface="Meiryo"/>
                <a:ea typeface="Meiryo"/>
              </a:rPr>
              <a:t xml:space="preserve">5</a:t>
            </a:r>
          </a:p>
        </p:txBody>
      </p:sp>
      <p:sp>
        <p:nvSpPr>
          <p:cNvPr id="31" name="TextBox 30"/>
          <p:cNvSpPr txBox="1"/>
          <p:nvPr/>
        </p:nvSpPr>
        <p:spPr>
          <a:xfrm>
            <a:off x="9875520" y="2139696"/>
            <a:ext cx="2011680" cy="320040"/>
          </a:xfrm>
          <a:prstGeom prst="rect">
            <a:avLst/>
          </a:prstGeom>
          <a:noFill/>
        </p:spPr>
        <p:txBody>
          <a:bodyPr wrap="square" lIns="0" rIns="0" tIns="0" bIns="0" anchor="t">
            <a:spAutoFit/>
          </a:bodyPr>
          <a:lstStyle/>
          <a:p>
            <a:pPr algn="ctr"/>
            <a:r>
              <a:rPr sz="1350" b="1">
                <a:solidFill>
                  <a:srgbClr val="FFFFFF"/>
                </a:solidFill>
                <a:latin typeface="Meiryo"/>
                <a:ea typeface="Meiryo"/>
              </a:rPr>
              <a:t xml:space="preserve">員数チェック</a:t>
            </a:r>
          </a:p>
        </p:txBody>
      </p:sp>
      <p:sp>
        <p:nvSpPr>
          <p:cNvPr id="32" name="TextBox 31"/>
          <p:cNvSpPr txBox="1"/>
          <p:nvPr/>
        </p:nvSpPr>
        <p:spPr>
          <a:xfrm>
            <a:off x="9948672" y="2468880"/>
            <a:ext cx="1865376" cy="640080"/>
          </a:xfrm>
          <a:prstGeom prst="rect">
            <a:avLst/>
          </a:prstGeom>
          <a:noFill/>
        </p:spPr>
        <p:txBody>
          <a:bodyPr wrap="square" lIns="0" rIns="0" tIns="0" bIns="0" anchor="t">
            <a:spAutoFit/>
          </a:bodyPr>
          <a:lstStyle/>
          <a:p>
            <a:pPr algn="ctr"/>
            <a:r>
              <a:rPr sz="1000" b="0">
                <a:solidFill>
                  <a:srgbClr val="CADCFC"/>
                </a:solidFill>
                <a:latin typeface="Meiryo"/>
                <a:ea typeface="Meiryo"/>
              </a:rPr>
              <a:t xml:space="preserve">実際の検査</a:t>
            </a:r>
          </a:p>
          <a:p>
            <a:pPr algn="ctr"/>
            <a:r>
              <a:rPr sz="1000" b="0">
                <a:solidFill>
                  <a:srgbClr val="CADCFC"/>
                </a:solidFill>
                <a:latin typeface="Meiryo"/>
                <a:ea typeface="Meiryo"/>
              </a:rPr>
              <a:t xml:space="preserve">OK / NGを自動判定</a:t>
            </a:r>
          </a:p>
        </p:txBody>
      </p:sp>
      <p:sp>
        <p:nvSpPr>
          <p:cNvPr id="33" name="TextBox 32"/>
          <p:cNvSpPr txBox="1"/>
          <p:nvPr/>
        </p:nvSpPr>
        <p:spPr>
          <a:xfrm>
            <a:off x="548640" y="3429000"/>
            <a:ext cx="10972800" cy="320040"/>
          </a:xfrm>
          <a:prstGeom prst="rect">
            <a:avLst/>
          </a:prstGeom>
          <a:noFill/>
        </p:spPr>
        <p:txBody>
          <a:bodyPr wrap="square" lIns="0" rIns="0" tIns="0" bIns="0" anchor="t">
            <a:spAutoFit/>
          </a:bodyPr>
          <a:lstStyle/>
          <a:p>
            <a:r>
              <a:rPr sz="1300" b="1">
                <a:solidFill>
                  <a:srgbClr val="23262E"/>
                </a:solidFill>
                <a:latin typeface="Meiryo"/>
                <a:ea typeface="Meiryo"/>
              </a:rPr>
              <a:t xml:space="preserve">工程1〜4は「AIに部品を覚えさせる準備作業」、工程5が「毎日の検査」です。</a:t>
            </a:r>
          </a:p>
        </p:txBody>
      </p:sp>
      <p:graphicFrame>
        <p:nvGraphicFramePr>
          <p:cNvPr id="34" name="Table 33"/>
          <p:cNvGraphicFramePr>
            <a:graphicFrameLocks noGrp="1"/>
          </p:cNvGraphicFramePr>
          <p:nvPr/>
        </p:nvGraphicFramePr>
        <p:xfrm>
          <a:off x="548640" y="3840480"/>
          <a:ext cx="7315200" cy="1316736"/>
        </p:xfrm>
        <a:graphic>
          <a:graphicData uri="http://schemas.openxmlformats.org/drawingml/2006/table">
            <a:tbl firstRow="0" bandRow="0">
              <a:tblPr firstRow="1" bandRow="1">
                <a:tableStyleId>{5C22544A-7EE6-4342-B048-85BDC9FD1C3A}</a:tableStyleId>
              </a:tblPr>
              <a:tblGrid>
                <a:gridCol w="2560320"/>
                <a:gridCol w="4754880"/>
              </a:tblGrid>
              <a:tr h="438912">
                <a:tc>
                  <a:txBody>
                    <a:bodyPr wrap="square"/>
                    <a:lstStyle/>
                    <a:p>
                      <a:r>
                        <a:rPr sz="1200" b="1">
                          <a:solidFill>
                            <a:srgbClr val="FFFFFF"/>
                          </a:solidFill>
                          <a:latin typeface="Meiryo"/>
                          <a:ea typeface="Meiryo"/>
                        </a:rPr>
                        <a:t xml:space="preserve">工程</a:t>
                      </a:r>
                    </a:p>
                  </a:txBody>
                  <a:tcPr marL="73152" marR="73152" marT="27432" marB="27432" anchor="ctr">
                    <a:solidFill>
                      <a:srgbClr val="1E2761"/>
                    </a:solidFill>
                  </a:tcPr>
                </a:tc>
                <a:tc>
                  <a:txBody>
                    <a:bodyPr wrap="square"/>
                    <a:lstStyle/>
                    <a:p>
                      <a:r>
                        <a:rPr sz="1200" b="1">
                          <a:solidFill>
                            <a:srgbClr val="FFFFFF"/>
                          </a:solidFill>
                          <a:latin typeface="Meiryo"/>
                          <a:ea typeface="Meiryo"/>
                        </a:rPr>
                        <a:t xml:space="preserve">頻度</a:t>
                      </a:r>
                    </a:p>
                  </a:txBody>
                  <a:tcPr marL="73152" marR="73152" marT="27432" marB="27432" anchor="ctr">
                    <a:solidFill>
                      <a:srgbClr val="1E2761"/>
                    </a:solidFill>
                  </a:tcPr>
                </a:tc>
              </a:tr>
              <a:tr h="438912">
                <a:tc>
                  <a:txBody>
                    <a:bodyPr wrap="square"/>
                    <a:lstStyle/>
                    <a:p>
                      <a:r>
                        <a:rPr sz="1150" b="0">
                          <a:solidFill>
                            <a:srgbClr val="23262E"/>
                          </a:solidFill>
                          <a:latin typeface="Meiryo"/>
                          <a:ea typeface="Meiryo"/>
                        </a:rPr>
                        <a:t xml:space="preserve">1〜4（準備作業）</a:t>
                      </a:r>
                    </a:p>
                  </a:txBody>
                  <a:tcPr marL="73152" marR="73152" marT="27432" marB="27432" anchor="ctr">
                    <a:solidFill>
                      <a:srgbClr val="FFFFFF"/>
                    </a:solidFill>
                  </a:tcPr>
                </a:tc>
                <a:tc>
                  <a:txBody>
                    <a:bodyPr wrap="square"/>
                    <a:lstStyle/>
                    <a:p>
                      <a:r>
                        <a:rPr sz="1150" b="0">
                          <a:solidFill>
                            <a:srgbClr val="23262E"/>
                          </a:solidFill>
                          <a:latin typeface="Meiryo"/>
                          <a:ea typeface="Meiryo"/>
                        </a:rPr>
                        <a:t xml:space="preserve">新製品・段取り替え・カメラや照明の変更時</a:t>
                      </a:r>
                    </a:p>
                  </a:txBody>
                  <a:tcPr marL="73152" marR="73152" marT="27432" marB="27432" anchor="ctr">
                    <a:solidFill>
                      <a:srgbClr val="FFFFFF"/>
                    </a:solidFill>
                  </a:tcPr>
                </a:tc>
              </a:tr>
              <a:tr h="438912">
                <a:tc>
                  <a:txBody>
                    <a:bodyPr wrap="square"/>
                    <a:lstStyle/>
                    <a:p>
                      <a:r>
                        <a:rPr sz="1150" b="0">
                          <a:solidFill>
                            <a:srgbClr val="23262E"/>
                          </a:solidFill>
                          <a:latin typeface="Meiryo"/>
                          <a:ea typeface="Meiryo"/>
                        </a:rPr>
                        <a:t xml:space="preserve">5（員数チェック）</a:t>
                      </a:r>
                    </a:p>
                  </a:txBody>
                  <a:tcPr marL="73152" marR="73152" marT="27432" marB="27432" anchor="ctr">
                    <a:solidFill>
                      <a:srgbClr val="F4F7FC"/>
                    </a:solidFill>
                  </a:tcPr>
                </a:tc>
                <a:tc>
                  <a:txBody>
                    <a:bodyPr wrap="square"/>
                    <a:lstStyle/>
                    <a:p>
                      <a:r>
                        <a:rPr sz="1150" b="0">
                          <a:solidFill>
                            <a:srgbClr val="23262E"/>
                          </a:solidFill>
                          <a:latin typeface="Meiryo"/>
                          <a:ea typeface="Meiryo"/>
                        </a:rPr>
                        <a:t xml:space="preserve">毎日</a:t>
                      </a:r>
                    </a:p>
                  </a:txBody>
                  <a:tcPr marL="73152" marR="73152" marT="27432" marB="27432" anchor="ctr">
                    <a:solidFill>
                      <a:srgbClr val="F4F7FC"/>
                    </a:solidFill>
                  </a:tcPr>
                </a:tc>
              </a:tr>
            </a:tbl>
          </a:graphicData>
        </a:graphic>
      </p:graphicFrame>
      <p:sp>
        <p:nvSpPr>
          <p:cNvPr id="35" name="Rounded Rectangle 34"/>
          <p:cNvSpPr/>
          <p:nvPr/>
        </p:nvSpPr>
        <p:spPr>
          <a:xfrm>
            <a:off x="8229600" y="3840480"/>
            <a:ext cx="3383280" cy="1508760"/>
          </a:xfrm>
          <a:prstGeom prst="roundRect">
            <a:avLst>
              <a:gd name="adj" fmla="val 12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30768" y="3968496"/>
            <a:ext cx="2980944" cy="274320"/>
          </a:xfrm>
          <a:prstGeom prst="rect">
            <a:avLst/>
          </a:prstGeom>
          <a:noFill/>
        </p:spPr>
        <p:txBody>
          <a:bodyPr wrap="square" lIns="0" rIns="0" tIns="0" bIns="0" anchor="t">
            <a:spAutoFit/>
          </a:bodyPr>
          <a:lstStyle/>
          <a:p>
            <a:r>
              <a:rPr sz="1300" b="1">
                <a:solidFill>
                  <a:srgbClr val="1E2761"/>
                </a:solidFill>
                <a:latin typeface="Meiryo"/>
                <a:ea typeface="Meiryo"/>
              </a:rPr>
              <a:t xml:space="preserve">ガイドに沿って作業</a:t>
            </a:r>
          </a:p>
        </p:txBody>
      </p:sp>
      <p:sp>
        <p:nvSpPr>
          <p:cNvPr id="37" name="TextBox 36"/>
          <p:cNvSpPr txBox="1"/>
          <p:nvPr/>
        </p:nvSpPr>
        <p:spPr>
          <a:xfrm>
            <a:off x="8430768" y="4279392"/>
            <a:ext cx="2980944" cy="960119"/>
          </a:xfrm>
          <a:prstGeom prst="rect">
            <a:avLst/>
          </a:prstGeom>
          <a:noFill/>
        </p:spPr>
        <p:txBody>
          <a:bodyPr wrap="square" lIns="0" rIns="0" tIns="0" bIns="0" anchor="t">
            <a:spAutoFit/>
          </a:bodyPr>
          <a:lstStyle/>
          <a:p>
            <a:r>
              <a:rPr sz="1100" b="0">
                <a:solidFill>
                  <a:srgbClr val="23262E"/>
                </a:solidFill>
                <a:latin typeface="Meiryo"/>
                <a:ea typeface="Meiryo"/>
              </a:rPr>
              <a:t xml:space="preserve">「設定・管理」→「ワークフロー管理」を開くと、工程順のガイドに沿って各画面へ移動できます。</a:t>
            </a:r>
          </a:p>
        </p:txBody>
      </p:sp>
      <p:sp>
        <p:nvSpPr>
          <p:cNvPr id="38" name="TextBox 37"/>
          <p:cNvSpPr txBox="1"/>
          <p:nvPr/>
        </p:nvSpPr>
        <p:spPr>
          <a:xfrm>
            <a:off x="11292840" y="6473952"/>
            <a:ext cx="640080" cy="274320"/>
          </a:xfrm>
          <a:prstGeom prst="rect">
            <a:avLst/>
          </a:prstGeom>
          <a:noFill/>
        </p:spPr>
        <p:txBody>
          <a:bodyPr wrap="square" lIns="0" rIns="0" tIns="0" bIns="0" anchor="t">
            <a:spAutoFit/>
          </a:bodyPr>
          <a:lstStyle/>
          <a:p>
            <a:pPr algn="r"/>
            <a:r>
              <a:rPr sz="1000" b="0">
                <a:solidFill>
                  <a:srgbClr val="5A6272"/>
                </a:solidFill>
                <a:latin typeface="Meiryo"/>
                <a:ea typeface="Meiryo"/>
              </a:rPr>
              <a:t xml:space="preserve">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64240" cy="292608"/>
          </a:xfrm>
          <a:prstGeom prst="rect">
            <a:avLst/>
          </a:prstGeom>
          <a:noFill/>
        </p:spPr>
        <p:txBody>
          <a:bodyPr wrap="square" lIns="0" rIns="0" tIns="0" bIns="0" anchor="t">
            <a:spAutoFit/>
          </a:bodyPr>
          <a:lstStyle/>
          <a:p>
            <a:r>
              <a:rPr sz="1200" b="1">
                <a:solidFill>
                  <a:srgbClr val="3A4A8C"/>
                </a:solidFill>
                <a:latin typeface="Meiryo"/>
                <a:ea typeface="Meiryo"/>
              </a:rPr>
              <a:t xml:space="preserve">START</a:t>
            </a:r>
          </a:p>
        </p:txBody>
      </p:sp>
      <p:sp>
        <p:nvSpPr>
          <p:cNvPr id="3" name="TextBox 2"/>
          <p:cNvSpPr txBox="1"/>
          <p:nvPr/>
        </p:nvSpPr>
        <p:spPr>
          <a:xfrm>
            <a:off x="548640" y="566928"/>
            <a:ext cx="11064240" cy="603504"/>
          </a:xfrm>
          <a:prstGeom prst="rect">
            <a:avLst/>
          </a:prstGeom>
          <a:noFill/>
        </p:spPr>
        <p:txBody>
          <a:bodyPr wrap="square" lIns="0" rIns="0" tIns="0" bIns="0" anchor="t">
            <a:spAutoFit/>
          </a:bodyPr>
          <a:lstStyle/>
          <a:p>
            <a:r>
              <a:rPr sz="2600" b="1">
                <a:solidFill>
                  <a:srgbClr val="23262E"/>
                </a:solidFill>
                <a:latin typeface="Meiryo"/>
                <a:ea typeface="Meiryo"/>
              </a:rPr>
              <a:t xml:space="preserve">2. システムの起動と終了</a:t>
            </a:r>
          </a:p>
        </p:txBody>
      </p:sp>
      <p:sp>
        <p:nvSpPr>
          <p:cNvPr id="4" name="Oval 3"/>
          <p:cNvSpPr/>
          <p:nvPr/>
        </p:nvSpPr>
        <p:spPr>
          <a:xfrm>
            <a:off x="548640" y="1572768"/>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72768"/>
            <a:ext cx="384048" cy="384048"/>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1</a:t>
            </a:r>
          </a:p>
        </p:txBody>
      </p:sp>
      <p:sp>
        <p:nvSpPr>
          <p:cNvPr id="6" name="TextBox 5"/>
          <p:cNvSpPr txBox="1"/>
          <p:nvPr/>
        </p:nvSpPr>
        <p:spPr>
          <a:xfrm>
            <a:off x="1078992" y="1554480"/>
            <a:ext cx="6601968" cy="292608"/>
          </a:xfrm>
          <a:prstGeom prst="rect">
            <a:avLst/>
          </a:prstGeom>
          <a:noFill/>
        </p:spPr>
        <p:txBody>
          <a:bodyPr wrap="square" lIns="0" rIns="0" tIns="0" bIns="0" anchor="t">
            <a:spAutoFit/>
          </a:bodyPr>
          <a:lstStyle/>
          <a:p>
            <a:r>
              <a:rPr sz="1400" b="1">
                <a:solidFill>
                  <a:srgbClr val="23262E"/>
                </a:solidFill>
                <a:latin typeface="Meiryo"/>
                <a:ea typeface="Meiryo"/>
              </a:rPr>
              <a:t xml:space="preserve">デスクトップの「object_detection_system」アイコンをダブルクリック</a:t>
            </a:r>
          </a:p>
        </p:txBody>
      </p:sp>
      <p:sp>
        <p:nvSpPr>
          <p:cNvPr id="7" name="TextBox 6"/>
          <p:cNvSpPr txBox="1"/>
          <p:nvPr/>
        </p:nvSpPr>
        <p:spPr>
          <a:xfrm>
            <a:off x="1078992" y="1847088"/>
            <a:ext cx="6601968" cy="457200"/>
          </a:xfrm>
          <a:prstGeom prst="rect">
            <a:avLst/>
          </a:prstGeom>
          <a:noFill/>
        </p:spPr>
        <p:txBody>
          <a:bodyPr wrap="square" lIns="0" rIns="0" tIns="0" bIns="0" anchor="t">
            <a:spAutoFit/>
          </a:bodyPr>
          <a:lstStyle/>
          <a:p>
            <a:r>
              <a:rPr sz="1150" b="0">
                <a:solidFill>
                  <a:srgbClr val="5A6272"/>
                </a:solidFill>
                <a:latin typeface="Meiryo"/>
                <a:ea typeface="Meiryo"/>
              </a:rPr>
              <a:t xml:space="preserve">黒い画面が開き、続けてブラウザが自動で開きます</a:t>
            </a:r>
          </a:p>
        </p:txBody>
      </p:sp>
      <p:sp>
        <p:nvSpPr>
          <p:cNvPr id="8" name="Oval 7"/>
          <p:cNvSpPr/>
          <p:nvPr/>
        </p:nvSpPr>
        <p:spPr>
          <a:xfrm>
            <a:off x="548640" y="2487168"/>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487168"/>
            <a:ext cx="384048" cy="384048"/>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2</a:t>
            </a:r>
          </a:p>
        </p:txBody>
      </p:sp>
      <p:sp>
        <p:nvSpPr>
          <p:cNvPr id="10" name="TextBox 9"/>
          <p:cNvSpPr txBox="1"/>
          <p:nvPr/>
        </p:nvSpPr>
        <p:spPr>
          <a:xfrm>
            <a:off x="1078992" y="2468880"/>
            <a:ext cx="6601968" cy="292608"/>
          </a:xfrm>
          <a:prstGeom prst="rect">
            <a:avLst/>
          </a:prstGeom>
          <a:noFill/>
        </p:spPr>
        <p:txBody>
          <a:bodyPr wrap="square" lIns="0" rIns="0" tIns="0" bIns="0" anchor="t">
            <a:spAutoFit/>
          </a:bodyPr>
          <a:lstStyle/>
          <a:p>
            <a:r>
              <a:rPr sz="1400" b="1">
                <a:solidFill>
                  <a:srgbClr val="23262E"/>
                </a:solidFill>
                <a:latin typeface="Meiryo"/>
                <a:ea typeface="Meiryo"/>
              </a:rPr>
              <a:t xml:space="preserve">ブラウザが開かない場合は手動でURLを開く</a:t>
            </a:r>
          </a:p>
        </p:txBody>
      </p:sp>
      <p:sp>
        <p:nvSpPr>
          <p:cNvPr id="11" name="Rounded Rectangle 10"/>
          <p:cNvSpPr/>
          <p:nvPr/>
        </p:nvSpPr>
        <p:spPr>
          <a:xfrm>
            <a:off x="1078992" y="2852928"/>
            <a:ext cx="4937760" cy="493776"/>
          </a:xfrm>
          <a:prstGeom prst="roundRect">
            <a:avLst>
              <a:gd name="adj" fmla="val 18000"/>
            </a:avLst>
          </a:prstGeom>
          <a:solidFill>
            <a:srgbClr val="23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80160" y="2852928"/>
            <a:ext cx="4572000" cy="493776"/>
          </a:xfrm>
          <a:prstGeom prst="rect">
            <a:avLst/>
          </a:prstGeom>
          <a:noFill/>
        </p:spPr>
        <p:txBody>
          <a:bodyPr wrap="square" lIns="0" rIns="0" tIns="0" bIns="0" anchor="ctr">
            <a:spAutoFit/>
          </a:bodyPr>
          <a:lstStyle/>
          <a:p>
            <a:pPr>
              <a:lnSpc>
                <a:spcPct val="125000"/>
              </a:lnSpc>
            </a:pPr>
            <a:r>
              <a:rPr sz="1300" b="0">
                <a:solidFill>
                  <a:srgbClr val="E8EEFB"/>
                </a:solidFill>
                <a:latin typeface="Courier New"/>
                <a:ea typeface="Meiryo"/>
              </a:rPr>
              <a:t xml:space="preserve">http://127.0.0.1:8000/</a:t>
            </a:r>
          </a:p>
        </p:txBody>
      </p:sp>
      <p:sp>
        <p:nvSpPr>
          <p:cNvPr id="13" name="Oval 12"/>
          <p:cNvSpPr/>
          <p:nvPr/>
        </p:nvSpPr>
        <p:spPr>
          <a:xfrm>
            <a:off x="548640" y="3767327"/>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767327"/>
            <a:ext cx="384048" cy="384048"/>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3</a:t>
            </a:r>
          </a:p>
        </p:txBody>
      </p:sp>
      <p:sp>
        <p:nvSpPr>
          <p:cNvPr id="15" name="TextBox 14"/>
          <p:cNvSpPr txBox="1"/>
          <p:nvPr/>
        </p:nvSpPr>
        <p:spPr>
          <a:xfrm>
            <a:off x="1078992" y="3749039"/>
            <a:ext cx="6601968" cy="292608"/>
          </a:xfrm>
          <a:prstGeom prst="rect">
            <a:avLst/>
          </a:prstGeom>
          <a:noFill/>
        </p:spPr>
        <p:txBody>
          <a:bodyPr wrap="square" lIns="0" rIns="0" tIns="0" bIns="0" anchor="t">
            <a:spAutoFit/>
          </a:bodyPr>
          <a:lstStyle/>
          <a:p>
            <a:r>
              <a:rPr sz="1400" b="1">
                <a:solidFill>
                  <a:srgbClr val="23262E"/>
                </a:solidFill>
                <a:latin typeface="Meiryo"/>
                <a:ea typeface="Meiryo"/>
              </a:rPr>
              <a:t xml:space="preserve">トップページから各作業画面へ移動</a:t>
            </a:r>
          </a:p>
        </p:txBody>
      </p:sp>
      <p:sp>
        <p:nvSpPr>
          <p:cNvPr id="16" name="TextBox 15"/>
          <p:cNvSpPr txBox="1"/>
          <p:nvPr/>
        </p:nvSpPr>
        <p:spPr>
          <a:xfrm>
            <a:off x="1078992" y="4041648"/>
            <a:ext cx="6601968" cy="310896"/>
          </a:xfrm>
          <a:prstGeom prst="rect">
            <a:avLst/>
          </a:prstGeom>
          <a:noFill/>
        </p:spPr>
        <p:txBody>
          <a:bodyPr wrap="square" lIns="0" rIns="0" tIns="0" bIns="0" anchor="t">
            <a:spAutoFit/>
          </a:bodyPr>
          <a:lstStyle/>
          <a:p>
            <a:r>
              <a:rPr sz="1150" b="0">
                <a:solidFill>
                  <a:srgbClr val="5A6272"/>
                </a:solidFill>
                <a:latin typeface="Meiryo"/>
                <a:ea typeface="Meiryo"/>
              </a:rPr>
              <a:t xml:space="preserve">「設定・管理」→「ワークフロー管理」を開くとガイド付きで進められます</a:t>
            </a:r>
          </a:p>
        </p:txBody>
      </p:sp>
      <p:sp>
        <p:nvSpPr>
          <p:cNvPr id="17" name="Rounded Rectangle 16"/>
          <p:cNvSpPr/>
          <p:nvPr/>
        </p:nvSpPr>
        <p:spPr>
          <a:xfrm>
            <a:off x="8229600" y="1554480"/>
            <a:ext cx="3383280" cy="1417320"/>
          </a:xfrm>
          <a:prstGeom prst="roundRect">
            <a:avLst>
              <a:gd name="adj" fmla="val 12000"/>
            </a:avLst>
          </a:prstGeom>
          <a:solidFill>
            <a:srgbClr val="FDF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94192" y="1700784"/>
            <a:ext cx="310896" cy="310896"/>
          </a:xfrm>
          <a:prstGeom prst="ellipse">
            <a:avLst/>
          </a:prstGeom>
          <a:solidFill>
            <a:srgbClr val="D97B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94192" y="1700784"/>
            <a:ext cx="310896" cy="310896"/>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a:t>
            </a:r>
          </a:p>
        </p:txBody>
      </p:sp>
      <p:sp>
        <p:nvSpPr>
          <p:cNvPr id="20" name="TextBox 19"/>
          <p:cNvSpPr txBox="1"/>
          <p:nvPr/>
        </p:nvSpPr>
        <p:spPr>
          <a:xfrm>
            <a:off x="8833104" y="1682495"/>
            <a:ext cx="2606040" cy="292608"/>
          </a:xfrm>
          <a:prstGeom prst="rect">
            <a:avLst/>
          </a:prstGeom>
          <a:noFill/>
        </p:spPr>
        <p:txBody>
          <a:bodyPr wrap="square" lIns="0" rIns="0" tIns="0" bIns="0" anchor="t">
            <a:spAutoFit/>
          </a:bodyPr>
          <a:lstStyle/>
          <a:p>
            <a:r>
              <a:rPr sz="1250" b="1">
                <a:solidFill>
                  <a:srgbClr val="8A4B12"/>
                </a:solidFill>
                <a:latin typeface="Meiryo"/>
                <a:ea typeface="Meiryo"/>
              </a:rPr>
              <a:t xml:space="preserve">黒い画面は閉じない</a:t>
            </a:r>
          </a:p>
        </p:txBody>
      </p:sp>
      <p:sp>
        <p:nvSpPr>
          <p:cNvPr id="21" name="TextBox 20"/>
          <p:cNvSpPr txBox="1"/>
          <p:nvPr/>
        </p:nvSpPr>
        <p:spPr>
          <a:xfrm>
            <a:off x="8833104" y="1975104"/>
            <a:ext cx="2606040" cy="905256"/>
          </a:xfrm>
          <a:prstGeom prst="rect">
            <a:avLst/>
          </a:prstGeom>
          <a:noFill/>
        </p:spPr>
        <p:txBody>
          <a:bodyPr wrap="square" lIns="0" rIns="0" tIns="0" bIns="0" anchor="t">
            <a:spAutoFit/>
          </a:bodyPr>
          <a:lstStyle/>
          <a:p>
            <a:r>
              <a:rPr sz="1100" b="0">
                <a:solidFill>
                  <a:srgbClr val="8A4B12"/>
                </a:solidFill>
                <a:latin typeface="Meiryo"/>
                <a:ea typeface="Meiryo"/>
              </a:rPr>
              <a:t xml:space="preserve">作業中は黒い画面を閉じないでください。閉じるとシステムが止まります。</a:t>
            </a:r>
          </a:p>
        </p:txBody>
      </p:sp>
      <p:sp>
        <p:nvSpPr>
          <p:cNvPr id="22" name="Rounded Rectangle 21"/>
          <p:cNvSpPr/>
          <p:nvPr/>
        </p:nvSpPr>
        <p:spPr>
          <a:xfrm>
            <a:off x="8229600" y="3154680"/>
            <a:ext cx="3383280" cy="1371600"/>
          </a:xfrm>
          <a:prstGeom prst="roundRect">
            <a:avLst>
              <a:gd name="adj" fmla="val 12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30768" y="3282696"/>
            <a:ext cx="2980944" cy="274320"/>
          </a:xfrm>
          <a:prstGeom prst="rect">
            <a:avLst/>
          </a:prstGeom>
          <a:noFill/>
        </p:spPr>
        <p:txBody>
          <a:bodyPr wrap="square" lIns="0" rIns="0" tIns="0" bIns="0" anchor="t">
            <a:spAutoFit/>
          </a:bodyPr>
          <a:lstStyle/>
          <a:p>
            <a:r>
              <a:rPr sz="1300" b="1">
                <a:solidFill>
                  <a:srgbClr val="1E2761"/>
                </a:solidFill>
                <a:latin typeface="Meiryo"/>
                <a:ea typeface="Meiryo"/>
              </a:rPr>
              <a:t xml:space="preserve">終了するとき</a:t>
            </a:r>
          </a:p>
        </p:txBody>
      </p:sp>
      <p:sp>
        <p:nvSpPr>
          <p:cNvPr id="24" name="TextBox 23"/>
          <p:cNvSpPr txBox="1"/>
          <p:nvPr/>
        </p:nvSpPr>
        <p:spPr>
          <a:xfrm>
            <a:off x="8430768" y="3593592"/>
            <a:ext cx="2980944" cy="822960"/>
          </a:xfrm>
          <a:prstGeom prst="rect">
            <a:avLst/>
          </a:prstGeom>
          <a:noFill/>
        </p:spPr>
        <p:txBody>
          <a:bodyPr wrap="square" lIns="0" rIns="0" tIns="0" bIns="0" anchor="t">
            <a:spAutoFit/>
          </a:bodyPr>
          <a:lstStyle/>
          <a:p>
            <a:r>
              <a:rPr sz="1150" b="0">
                <a:solidFill>
                  <a:srgbClr val="23262E"/>
                </a:solidFill>
                <a:latin typeface="Meiryo"/>
                <a:ea typeface="Meiryo"/>
              </a:rPr>
              <a:t xml:space="preserve">黒い画面で Ctrl + C を押すか、黒い画面を閉じます。</a:t>
            </a:r>
          </a:p>
        </p:txBody>
      </p:sp>
      <p:sp>
        <p:nvSpPr>
          <p:cNvPr id="25" name="TextBox 24"/>
          <p:cNvSpPr txBox="1"/>
          <p:nvPr/>
        </p:nvSpPr>
        <p:spPr>
          <a:xfrm>
            <a:off x="11292840" y="6473952"/>
            <a:ext cx="640080" cy="274320"/>
          </a:xfrm>
          <a:prstGeom prst="rect">
            <a:avLst/>
          </a:prstGeom>
          <a:noFill/>
        </p:spPr>
        <p:txBody>
          <a:bodyPr wrap="square" lIns="0" rIns="0" tIns="0" bIns="0" anchor="t">
            <a:spAutoFit/>
          </a:bodyPr>
          <a:lstStyle/>
          <a:p>
            <a:pPr algn="r"/>
            <a:r>
              <a:rPr sz="1000" b="0">
                <a:solidFill>
                  <a:srgbClr val="5A6272"/>
                </a:solidFill>
                <a:latin typeface="Meiryo"/>
                <a:ea typeface="Meiryo"/>
              </a:rPr>
              <a:t xml:space="preserve">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64240" cy="292608"/>
          </a:xfrm>
          <a:prstGeom prst="rect">
            <a:avLst/>
          </a:prstGeom>
          <a:noFill/>
        </p:spPr>
        <p:txBody>
          <a:bodyPr wrap="square" lIns="0" rIns="0" tIns="0" bIns="0" anchor="t">
            <a:spAutoFit/>
          </a:bodyPr>
          <a:lstStyle/>
          <a:p>
            <a:r>
              <a:rPr sz="1200" b="1">
                <a:solidFill>
                  <a:srgbClr val="3A4A8C"/>
                </a:solidFill>
                <a:latin typeface="Meiryo"/>
                <a:ea typeface="Meiryo"/>
              </a:rPr>
              <a:t xml:space="preserve">STEP 1（1/2）</a:t>
            </a:r>
          </a:p>
        </p:txBody>
      </p:sp>
      <p:sp>
        <p:nvSpPr>
          <p:cNvPr id="3" name="TextBox 2"/>
          <p:cNvSpPr txBox="1"/>
          <p:nvPr/>
        </p:nvSpPr>
        <p:spPr>
          <a:xfrm>
            <a:off x="548640" y="566928"/>
            <a:ext cx="11064240" cy="603504"/>
          </a:xfrm>
          <a:prstGeom prst="rect">
            <a:avLst/>
          </a:prstGeom>
          <a:noFill/>
        </p:spPr>
        <p:txBody>
          <a:bodyPr wrap="square" lIns="0" rIns="0" tIns="0" bIns="0" anchor="t">
            <a:spAutoFit/>
          </a:bodyPr>
          <a:lstStyle/>
          <a:p>
            <a:r>
              <a:rPr sz="2600" b="1">
                <a:solidFill>
                  <a:srgbClr val="23262E"/>
                </a:solidFill>
                <a:latin typeface="Meiryo"/>
                <a:ea typeface="Meiryo"/>
              </a:rPr>
              <a:t xml:space="preserve">3. プロジェクト作成</a:t>
            </a:r>
          </a:p>
        </p:txBody>
      </p:sp>
      <p:sp>
        <p:nvSpPr>
          <p:cNvPr id="4" name="Rounded Rectangle 3"/>
          <p:cNvSpPr/>
          <p:nvPr/>
        </p:nvSpPr>
        <p:spPr>
          <a:xfrm>
            <a:off x="548640" y="1417320"/>
            <a:ext cx="11064240" cy="960120"/>
          </a:xfrm>
          <a:prstGeom prst="roundRect">
            <a:avLst>
              <a:gd name="adj" fmla="val 12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545336"/>
            <a:ext cx="10661904" cy="274320"/>
          </a:xfrm>
          <a:prstGeom prst="rect">
            <a:avLst/>
          </a:prstGeom>
          <a:noFill/>
        </p:spPr>
        <p:txBody>
          <a:bodyPr wrap="square" lIns="0" rIns="0" tIns="0" bIns="0" anchor="t">
            <a:spAutoFit/>
          </a:bodyPr>
          <a:lstStyle/>
          <a:p>
            <a:r>
              <a:rPr sz="1300" b="1">
                <a:solidFill>
                  <a:srgbClr val="1E2761"/>
                </a:solidFill>
                <a:latin typeface="Meiryo"/>
                <a:ea typeface="Meiryo"/>
              </a:rPr>
              <a:t xml:space="preserve">「プロジェクト」＝ 製品（検査対象）ごとのデータのまとまり</a:t>
            </a:r>
          </a:p>
        </p:txBody>
      </p:sp>
      <p:sp>
        <p:nvSpPr>
          <p:cNvPr id="6" name="TextBox 5"/>
          <p:cNvSpPr txBox="1"/>
          <p:nvPr/>
        </p:nvSpPr>
        <p:spPr>
          <a:xfrm>
            <a:off x="749808" y="1856232"/>
            <a:ext cx="10661904" cy="411480"/>
          </a:xfrm>
          <a:prstGeom prst="rect">
            <a:avLst/>
          </a:prstGeom>
          <a:noFill/>
        </p:spPr>
        <p:txBody>
          <a:bodyPr wrap="square" lIns="0" rIns="0" tIns="0" bIns="0" anchor="t">
            <a:spAutoFit/>
          </a:bodyPr>
          <a:lstStyle/>
          <a:p>
            <a:r>
              <a:rPr sz="1150" b="0">
                <a:solidFill>
                  <a:srgbClr val="23262E"/>
                </a:solidFill>
                <a:latin typeface="Meiryo"/>
                <a:ea typeface="Meiryo"/>
              </a:rPr>
              <a:t xml:space="preserve">新しい製品を検査するときは、新しいプロジェクトを作ります。撮影画像・アノテーション・学習モデルはすべてプロジェクト単位で管理されます。</a:t>
            </a:r>
          </a:p>
        </p:txBody>
      </p:sp>
      <p:sp>
        <p:nvSpPr>
          <p:cNvPr id="7" name="Oval 6"/>
          <p:cNvSpPr/>
          <p:nvPr/>
        </p:nvSpPr>
        <p:spPr>
          <a:xfrm>
            <a:off x="548640" y="2715768"/>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715768"/>
            <a:ext cx="384048" cy="384048"/>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1</a:t>
            </a:r>
          </a:p>
        </p:txBody>
      </p:sp>
      <p:sp>
        <p:nvSpPr>
          <p:cNvPr id="9" name="TextBox 8"/>
          <p:cNvSpPr txBox="1"/>
          <p:nvPr/>
        </p:nvSpPr>
        <p:spPr>
          <a:xfrm>
            <a:off x="1078992" y="2697480"/>
            <a:ext cx="9985248" cy="292608"/>
          </a:xfrm>
          <a:prstGeom prst="rect">
            <a:avLst/>
          </a:prstGeom>
          <a:noFill/>
        </p:spPr>
        <p:txBody>
          <a:bodyPr wrap="square" lIns="0" rIns="0" tIns="0" bIns="0" anchor="t">
            <a:spAutoFit/>
          </a:bodyPr>
          <a:lstStyle/>
          <a:p>
            <a:r>
              <a:rPr sz="1400" b="1">
                <a:solidFill>
                  <a:srgbClr val="23262E"/>
                </a:solidFill>
                <a:latin typeface="Meiryo"/>
                <a:ea typeface="Meiryo"/>
              </a:rPr>
              <a:t xml:space="preserve">「データ収集」画面を開く</a:t>
            </a:r>
          </a:p>
        </p:txBody>
      </p:sp>
      <p:sp>
        <p:nvSpPr>
          <p:cNvPr id="10" name="Oval 9"/>
          <p:cNvSpPr/>
          <p:nvPr/>
        </p:nvSpPr>
        <p:spPr>
          <a:xfrm>
            <a:off x="548640" y="3401568"/>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401568"/>
            <a:ext cx="384048" cy="384048"/>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2</a:t>
            </a:r>
          </a:p>
        </p:txBody>
      </p:sp>
      <p:sp>
        <p:nvSpPr>
          <p:cNvPr id="12" name="TextBox 11"/>
          <p:cNvSpPr txBox="1"/>
          <p:nvPr/>
        </p:nvSpPr>
        <p:spPr>
          <a:xfrm>
            <a:off x="1078992" y="3383280"/>
            <a:ext cx="9985248" cy="292608"/>
          </a:xfrm>
          <a:prstGeom prst="rect">
            <a:avLst/>
          </a:prstGeom>
          <a:noFill/>
        </p:spPr>
        <p:txBody>
          <a:bodyPr wrap="square" lIns="0" rIns="0" tIns="0" bIns="0" anchor="t">
            <a:spAutoFit/>
          </a:bodyPr>
          <a:lstStyle/>
          <a:p>
            <a:r>
              <a:rPr sz="1400" b="1">
                <a:solidFill>
                  <a:srgbClr val="23262E"/>
                </a:solidFill>
                <a:latin typeface="Meiryo"/>
                <a:ea typeface="Meiryo"/>
              </a:rPr>
              <a:t xml:space="preserve">「新規プロジェクト作成」を選ぶ</a:t>
            </a:r>
          </a:p>
        </p:txBody>
      </p:sp>
      <p:sp>
        <p:nvSpPr>
          <p:cNvPr id="13" name="TextBox 12"/>
          <p:cNvSpPr txBox="1"/>
          <p:nvPr/>
        </p:nvSpPr>
        <p:spPr>
          <a:xfrm>
            <a:off x="1078992" y="3675888"/>
            <a:ext cx="9985248" cy="310896"/>
          </a:xfrm>
          <a:prstGeom prst="rect">
            <a:avLst/>
          </a:prstGeom>
          <a:noFill/>
        </p:spPr>
        <p:txBody>
          <a:bodyPr wrap="square" lIns="0" rIns="0" tIns="0" bIns="0" anchor="t">
            <a:spAutoFit/>
          </a:bodyPr>
          <a:lstStyle/>
          <a:p>
            <a:r>
              <a:rPr sz="1150" b="0">
                <a:solidFill>
                  <a:srgbClr val="5A6272"/>
                </a:solidFill>
                <a:latin typeface="Meiryo"/>
                <a:ea typeface="Meiryo"/>
              </a:rPr>
              <a:t xml:space="preserve">プロジェクト名は自動で日時が付きます</a:t>
            </a:r>
          </a:p>
        </p:txBody>
      </p:sp>
      <p:sp>
        <p:nvSpPr>
          <p:cNvPr id="14" name="Oval 13"/>
          <p:cNvSpPr/>
          <p:nvPr/>
        </p:nvSpPr>
        <p:spPr>
          <a:xfrm>
            <a:off x="548640" y="4224527"/>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4224527"/>
            <a:ext cx="384048" cy="384048"/>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3</a:t>
            </a:r>
          </a:p>
        </p:txBody>
      </p:sp>
      <p:sp>
        <p:nvSpPr>
          <p:cNvPr id="16" name="TextBox 15"/>
          <p:cNvSpPr txBox="1"/>
          <p:nvPr/>
        </p:nvSpPr>
        <p:spPr>
          <a:xfrm>
            <a:off x="1078992" y="4206240"/>
            <a:ext cx="9985248" cy="292608"/>
          </a:xfrm>
          <a:prstGeom prst="rect">
            <a:avLst/>
          </a:prstGeom>
          <a:noFill/>
        </p:spPr>
        <p:txBody>
          <a:bodyPr wrap="square" lIns="0" rIns="0" tIns="0" bIns="0" anchor="t">
            <a:spAutoFit/>
          </a:bodyPr>
          <a:lstStyle/>
          <a:p>
            <a:r>
              <a:rPr sz="1400" b="1">
                <a:solidFill>
                  <a:srgbClr val="23262E"/>
                </a:solidFill>
                <a:latin typeface="Meiryo"/>
                <a:ea typeface="Meiryo"/>
              </a:rPr>
              <a:t xml:space="preserve">作成したプロジェクトが「アクティブ（作業対象）」になっていることを確認</a:t>
            </a:r>
          </a:p>
        </p:txBody>
      </p:sp>
      <p:sp>
        <p:nvSpPr>
          <p:cNvPr id="17" name="TextBox 16"/>
          <p:cNvSpPr txBox="1"/>
          <p:nvPr/>
        </p:nvSpPr>
        <p:spPr>
          <a:xfrm>
            <a:off x="1078992" y="4498848"/>
            <a:ext cx="9985248" cy="457200"/>
          </a:xfrm>
          <a:prstGeom prst="rect">
            <a:avLst/>
          </a:prstGeom>
          <a:noFill/>
        </p:spPr>
        <p:txBody>
          <a:bodyPr wrap="square" lIns="0" rIns="0" tIns="0" bIns="0" anchor="t">
            <a:spAutoFit/>
          </a:bodyPr>
          <a:lstStyle/>
          <a:p>
            <a:r>
              <a:rPr sz="1150" b="0">
                <a:solidFill>
                  <a:srgbClr val="5A6272"/>
                </a:solidFill>
                <a:latin typeface="Meiryo"/>
                <a:ea typeface="Meiryo"/>
              </a:rPr>
              <a:t xml:space="preserve">以降の工程はすべてアクティブなプロジェクトに対して行われます</a:t>
            </a:r>
          </a:p>
        </p:txBody>
      </p:sp>
      <p:sp>
        <p:nvSpPr>
          <p:cNvPr id="18" name="TextBox 17"/>
          <p:cNvSpPr txBox="1"/>
          <p:nvPr/>
        </p:nvSpPr>
        <p:spPr>
          <a:xfrm>
            <a:off x="11292840" y="6473952"/>
            <a:ext cx="640080" cy="274320"/>
          </a:xfrm>
          <a:prstGeom prst="rect">
            <a:avLst/>
          </a:prstGeom>
          <a:noFill/>
        </p:spPr>
        <p:txBody>
          <a:bodyPr wrap="square" lIns="0" rIns="0" tIns="0" bIns="0" anchor="t">
            <a:spAutoFit/>
          </a:bodyPr>
          <a:lstStyle/>
          <a:p>
            <a:pPr algn="r"/>
            <a:r>
              <a:rPr sz="1000" b="0">
                <a:solidFill>
                  <a:srgbClr val="5A6272"/>
                </a:solidFill>
                <a:latin typeface="Meiryo"/>
                <a:ea typeface="Meiryo"/>
              </a:rPr>
              <a:t xml:space="preserve">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64240" cy="292608"/>
          </a:xfrm>
          <a:prstGeom prst="rect">
            <a:avLst/>
          </a:prstGeom>
          <a:noFill/>
        </p:spPr>
        <p:txBody>
          <a:bodyPr wrap="square" lIns="0" rIns="0" tIns="0" bIns="0" anchor="t">
            <a:spAutoFit/>
          </a:bodyPr>
          <a:lstStyle/>
          <a:p>
            <a:r>
              <a:rPr sz="1200" b="1">
                <a:solidFill>
                  <a:srgbClr val="3A4A8C"/>
                </a:solidFill>
                <a:latin typeface="Meiryo"/>
                <a:ea typeface="Meiryo"/>
              </a:rPr>
              <a:t xml:space="preserve">STEP 1（2/2）</a:t>
            </a:r>
          </a:p>
        </p:txBody>
      </p:sp>
      <p:sp>
        <p:nvSpPr>
          <p:cNvPr id="3" name="TextBox 2"/>
          <p:cNvSpPr txBox="1"/>
          <p:nvPr/>
        </p:nvSpPr>
        <p:spPr>
          <a:xfrm>
            <a:off x="548640" y="566928"/>
            <a:ext cx="11064240" cy="603504"/>
          </a:xfrm>
          <a:prstGeom prst="rect">
            <a:avLst/>
          </a:prstGeom>
          <a:noFill/>
        </p:spPr>
        <p:txBody>
          <a:bodyPr wrap="square" lIns="0" rIns="0" tIns="0" bIns="0" anchor="t">
            <a:spAutoFit/>
          </a:bodyPr>
          <a:lstStyle/>
          <a:p>
            <a:r>
              <a:rPr sz="2600" b="1">
                <a:solidFill>
                  <a:srgbClr val="23262E"/>
                </a:solidFill>
                <a:latin typeface="Meiryo"/>
                <a:ea typeface="Meiryo"/>
              </a:rPr>
              <a:t xml:space="preserve">3. データ収集（画像の撮影）</a:t>
            </a:r>
          </a:p>
        </p:txBody>
      </p:sp>
      <p:sp>
        <p:nvSpPr>
          <p:cNvPr id="4" name="TextBox 3"/>
          <p:cNvSpPr txBox="1"/>
          <p:nvPr/>
        </p:nvSpPr>
        <p:spPr>
          <a:xfrm>
            <a:off x="548640" y="1298448"/>
            <a:ext cx="10972800" cy="320040"/>
          </a:xfrm>
          <a:prstGeom prst="rect">
            <a:avLst/>
          </a:prstGeom>
          <a:noFill/>
        </p:spPr>
        <p:txBody>
          <a:bodyPr wrap="square" lIns="0" rIns="0" tIns="0" bIns="0" anchor="t">
            <a:spAutoFit/>
          </a:bodyPr>
          <a:lstStyle/>
          <a:p>
            <a:r>
              <a:rPr sz="1350" b="0">
                <a:solidFill>
                  <a:srgbClr val="23262E"/>
                </a:solidFill>
                <a:latin typeface="Meiryo"/>
                <a:ea typeface="Meiryo"/>
              </a:rPr>
              <a:t xml:space="preserve">実際の検査と同じ置き方で、部品を入れた箱をカメラの下に置いて撮影します。</a:t>
            </a:r>
          </a:p>
        </p:txBody>
      </p:sp>
      <p:sp>
        <p:nvSpPr>
          <p:cNvPr id="5" name="Rounded Rectangle 4"/>
          <p:cNvSpPr/>
          <p:nvPr/>
        </p:nvSpPr>
        <p:spPr>
          <a:xfrm>
            <a:off x="548640" y="1783080"/>
            <a:ext cx="5394960" cy="1600200"/>
          </a:xfrm>
          <a:prstGeom prst="roundRect">
            <a:avLst>
              <a:gd name="adj" fmla="val 12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911095"/>
            <a:ext cx="4992624" cy="274320"/>
          </a:xfrm>
          <a:prstGeom prst="rect">
            <a:avLst/>
          </a:prstGeom>
          <a:noFill/>
        </p:spPr>
        <p:txBody>
          <a:bodyPr wrap="square" lIns="0" rIns="0" tIns="0" bIns="0" anchor="t">
            <a:spAutoFit/>
          </a:bodyPr>
          <a:lstStyle/>
          <a:p>
            <a:r>
              <a:rPr sz="1300" b="1">
                <a:solidFill>
                  <a:srgbClr val="1E2761"/>
                </a:solidFill>
                <a:latin typeface="Meiryo"/>
                <a:ea typeface="Meiryo"/>
              </a:rPr>
              <a:t xml:space="preserve">自動撮影</a:t>
            </a:r>
          </a:p>
        </p:txBody>
      </p:sp>
      <p:sp>
        <p:nvSpPr>
          <p:cNvPr id="7" name="TextBox 6"/>
          <p:cNvSpPr txBox="1"/>
          <p:nvPr/>
        </p:nvSpPr>
        <p:spPr>
          <a:xfrm>
            <a:off x="749808" y="2221991"/>
            <a:ext cx="4992624" cy="1051560"/>
          </a:xfrm>
          <a:prstGeom prst="rect">
            <a:avLst/>
          </a:prstGeom>
          <a:noFill/>
        </p:spPr>
        <p:txBody>
          <a:bodyPr wrap="square" lIns="0" rIns="0" tIns="0" bIns="0" anchor="t">
            <a:spAutoFit/>
          </a:bodyPr>
          <a:lstStyle/>
          <a:p>
            <a:r>
              <a:rPr sz="1150" b="0">
                <a:solidFill>
                  <a:srgbClr val="23262E"/>
                </a:solidFill>
                <a:latin typeface="Meiryo"/>
                <a:ea typeface="Meiryo"/>
              </a:rPr>
              <a:t xml:space="preserve">撮影間隔（秒）を設定してスタート。箱の中身や位置を少しずつ変えながら撮りためるのに便利です。</a:t>
            </a:r>
          </a:p>
        </p:txBody>
      </p:sp>
      <p:sp>
        <p:nvSpPr>
          <p:cNvPr id="8" name="Rounded Rectangle 7"/>
          <p:cNvSpPr/>
          <p:nvPr/>
        </p:nvSpPr>
        <p:spPr>
          <a:xfrm>
            <a:off x="6217920" y="1783080"/>
            <a:ext cx="5394960" cy="1600200"/>
          </a:xfrm>
          <a:prstGeom prst="roundRect">
            <a:avLst>
              <a:gd name="adj" fmla="val 12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9088" y="1911095"/>
            <a:ext cx="4992624" cy="274320"/>
          </a:xfrm>
          <a:prstGeom prst="rect">
            <a:avLst/>
          </a:prstGeom>
          <a:noFill/>
        </p:spPr>
        <p:txBody>
          <a:bodyPr wrap="square" lIns="0" rIns="0" tIns="0" bIns="0" anchor="t">
            <a:spAutoFit/>
          </a:bodyPr>
          <a:lstStyle/>
          <a:p>
            <a:r>
              <a:rPr sz="1300" b="1">
                <a:solidFill>
                  <a:srgbClr val="1E2761"/>
                </a:solidFill>
                <a:latin typeface="Meiryo"/>
                <a:ea typeface="Meiryo"/>
              </a:rPr>
              <a:t xml:space="preserve">手動撮影</a:t>
            </a:r>
          </a:p>
        </p:txBody>
      </p:sp>
      <p:sp>
        <p:nvSpPr>
          <p:cNvPr id="10" name="TextBox 9"/>
          <p:cNvSpPr txBox="1"/>
          <p:nvPr/>
        </p:nvSpPr>
        <p:spPr>
          <a:xfrm>
            <a:off x="6419088" y="2221991"/>
            <a:ext cx="4992624" cy="1051560"/>
          </a:xfrm>
          <a:prstGeom prst="rect">
            <a:avLst/>
          </a:prstGeom>
          <a:noFill/>
        </p:spPr>
        <p:txBody>
          <a:bodyPr wrap="square" lIns="0" rIns="0" tIns="0" bIns="0" anchor="t">
            <a:spAutoFit/>
          </a:bodyPr>
          <a:lstStyle/>
          <a:p>
            <a:r>
              <a:rPr sz="1150" b="0">
                <a:solidFill>
                  <a:srgbClr val="23262E"/>
                </a:solidFill>
                <a:latin typeface="Meiryo"/>
                <a:ea typeface="Meiryo"/>
              </a:rPr>
              <a:t xml:space="preserve">「スナップショット」ボタンで1枚ずつ撮影。狙った状態を確実に撮りたいときに使います。</a:t>
            </a:r>
          </a:p>
        </p:txBody>
      </p:sp>
      <p:sp>
        <p:nvSpPr>
          <p:cNvPr id="11" name="Rounded Rectangle 10"/>
          <p:cNvSpPr/>
          <p:nvPr/>
        </p:nvSpPr>
        <p:spPr>
          <a:xfrm>
            <a:off x="548640" y="3657600"/>
            <a:ext cx="11064240" cy="2148840"/>
          </a:xfrm>
          <a:prstGeom prst="roundRect">
            <a:avLst>
              <a:gd name="adj" fmla="val 12000"/>
            </a:avLst>
          </a:prstGeom>
          <a:solidFill>
            <a:srgbClr val="F4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794760"/>
            <a:ext cx="10058400" cy="320040"/>
          </a:xfrm>
          <a:prstGeom prst="rect">
            <a:avLst/>
          </a:prstGeom>
          <a:noFill/>
        </p:spPr>
        <p:txBody>
          <a:bodyPr wrap="square" lIns="0" rIns="0" tIns="0" bIns="0" anchor="t">
            <a:spAutoFit/>
          </a:bodyPr>
          <a:lstStyle/>
          <a:p>
            <a:r>
              <a:rPr sz="1400" b="1">
                <a:solidFill>
                  <a:srgbClr val="1E2761"/>
                </a:solidFill>
                <a:latin typeface="Meiryo"/>
                <a:ea typeface="Meiryo"/>
              </a:rPr>
              <a:t xml:space="preserve">撮影のコツ（AIの精度を決める重要ポイント）</a:t>
            </a:r>
          </a:p>
        </p:txBody>
      </p:sp>
      <p:sp>
        <p:nvSpPr>
          <p:cNvPr id="13" name="TextBox 12"/>
          <p:cNvSpPr txBox="1"/>
          <p:nvPr/>
        </p:nvSpPr>
        <p:spPr>
          <a:xfrm>
            <a:off x="777240" y="4206240"/>
            <a:ext cx="10607040" cy="1463040"/>
          </a:xfrm>
          <a:prstGeom prst="rect">
            <a:avLst/>
          </a:prstGeom>
          <a:noFill/>
        </p:spPr>
        <p:txBody>
          <a:bodyPr wrap="square" lIns="0" rIns="0" tIns="0" bIns="0" anchor="t">
            <a:spAutoFit/>
          </a:bodyPr>
          <a:lstStyle/>
          <a:p>
            <a:pPr>
              <a:spcAft>
                <a:spcPts val="400"/>
              </a:spcAft>
            </a:pPr>
            <a:r>
              <a:rPr sz="1250" b="0">
                <a:solidFill>
                  <a:srgbClr val="23262E"/>
                </a:solidFill>
                <a:latin typeface="Meiryo"/>
                <a:ea typeface="Meiryo"/>
              </a:rPr>
              <a:t xml:space="preserve">・50〜100枚以上を目安に撮影する</a:t>
            </a:r>
          </a:p>
          <a:p>
            <a:pPr>
              <a:spcAft>
                <a:spcPts val="400"/>
              </a:spcAft>
            </a:pPr>
            <a:r>
              <a:rPr sz="1250" b="0">
                <a:solidFill>
                  <a:srgbClr val="23262E"/>
                </a:solidFill>
                <a:latin typeface="Meiryo"/>
                <a:ea typeface="Meiryo"/>
              </a:rPr>
              <a:t xml:space="preserve">・部品の位置・向き・照明を少しずつ変える（毎回同じだとAIが応用を利かせられません）</a:t>
            </a:r>
          </a:p>
          <a:p>
            <a:pPr>
              <a:spcAft>
                <a:spcPts val="400"/>
              </a:spcAft>
            </a:pPr>
            <a:r>
              <a:rPr sz="1250" b="0">
                <a:solidFill>
                  <a:srgbClr val="23262E"/>
                </a:solidFill>
                <a:latin typeface="Meiryo"/>
                <a:ea typeface="Meiryo"/>
              </a:rPr>
              <a:t xml:space="preserve">・実際の検査時と同じカメラ位置・明るさで撮る</a:t>
            </a:r>
          </a:p>
          <a:p>
            <a:r>
              <a:rPr sz="1250" b="0">
                <a:solidFill>
                  <a:srgbClr val="23262E"/>
                </a:solidFill>
                <a:latin typeface="Meiryo"/>
                <a:ea typeface="Meiryo"/>
              </a:rPr>
              <a:t xml:space="preserve">・撮り終えたら画像を確認し、ピンボケ等の不要な画像は削除する</a:t>
            </a:r>
          </a:p>
        </p:txBody>
      </p:sp>
      <p:sp>
        <p:nvSpPr>
          <p:cNvPr id="14" name="TextBox 13"/>
          <p:cNvSpPr txBox="1"/>
          <p:nvPr/>
        </p:nvSpPr>
        <p:spPr>
          <a:xfrm>
            <a:off x="11292840" y="6473952"/>
            <a:ext cx="640080" cy="274320"/>
          </a:xfrm>
          <a:prstGeom prst="rect">
            <a:avLst/>
          </a:prstGeom>
          <a:noFill/>
        </p:spPr>
        <p:txBody>
          <a:bodyPr wrap="square" lIns="0" rIns="0" tIns="0" bIns="0" anchor="t">
            <a:spAutoFit/>
          </a:bodyPr>
          <a:lstStyle/>
          <a:p>
            <a:pPr algn="r"/>
            <a:r>
              <a:rPr sz="1000" b="0">
                <a:solidFill>
                  <a:srgbClr val="5A6272"/>
                </a:solidFill>
                <a:latin typeface="Meiryo"/>
                <a:ea typeface="Meiryo"/>
              </a:rPr>
              <a:t xml:space="preserve">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64240" cy="292608"/>
          </a:xfrm>
          <a:prstGeom prst="rect">
            <a:avLst/>
          </a:prstGeom>
          <a:noFill/>
        </p:spPr>
        <p:txBody>
          <a:bodyPr wrap="square" lIns="0" rIns="0" tIns="0" bIns="0" anchor="t">
            <a:spAutoFit/>
          </a:bodyPr>
          <a:lstStyle/>
          <a:p>
            <a:r>
              <a:rPr sz="1200" b="1">
                <a:solidFill>
                  <a:srgbClr val="3A4A8C"/>
                </a:solidFill>
                <a:latin typeface="Meiryo"/>
                <a:ea typeface="Meiryo"/>
              </a:rPr>
              <a:t xml:space="preserve">STEP 2（省略可）</a:t>
            </a:r>
          </a:p>
        </p:txBody>
      </p:sp>
      <p:sp>
        <p:nvSpPr>
          <p:cNvPr id="3" name="TextBox 2"/>
          <p:cNvSpPr txBox="1"/>
          <p:nvPr/>
        </p:nvSpPr>
        <p:spPr>
          <a:xfrm>
            <a:off x="548640" y="566928"/>
            <a:ext cx="11064240" cy="603504"/>
          </a:xfrm>
          <a:prstGeom prst="rect">
            <a:avLst/>
          </a:prstGeom>
          <a:noFill/>
        </p:spPr>
        <p:txBody>
          <a:bodyPr wrap="square" lIns="0" rIns="0" tIns="0" bIns="0" anchor="t">
            <a:spAutoFit/>
          </a:bodyPr>
          <a:lstStyle/>
          <a:p>
            <a:r>
              <a:rPr sz="2600" b="1">
                <a:solidFill>
                  <a:srgbClr val="23262E"/>
                </a:solidFill>
                <a:latin typeface="Meiryo"/>
                <a:ea typeface="Meiryo"/>
              </a:rPr>
              <a:t xml:space="preserve">4. 画像切り抜き</a:t>
            </a:r>
          </a:p>
        </p:txBody>
      </p:sp>
      <p:sp>
        <p:nvSpPr>
          <p:cNvPr id="4" name="TextBox 3"/>
          <p:cNvSpPr txBox="1"/>
          <p:nvPr/>
        </p:nvSpPr>
        <p:spPr>
          <a:xfrm>
            <a:off x="548640" y="1298448"/>
            <a:ext cx="10972800" cy="365760"/>
          </a:xfrm>
          <a:prstGeom prst="rect">
            <a:avLst/>
          </a:prstGeom>
          <a:noFill/>
        </p:spPr>
        <p:txBody>
          <a:bodyPr wrap="square" lIns="0" rIns="0" tIns="0" bIns="0" anchor="t">
            <a:spAutoFit/>
          </a:bodyPr>
          <a:lstStyle/>
          <a:p>
            <a:r>
              <a:rPr sz="1350" b="0">
                <a:solidFill>
                  <a:srgbClr val="23262E"/>
                </a:solidFill>
                <a:latin typeface="Meiryo"/>
                <a:ea typeface="Meiryo"/>
              </a:rPr>
              <a:t xml:space="preserve">画像にコンベアや背景など検査と関係ない部分が大きく写っている場合、箱の部分だけを切り抜くと精度が上がります。</a:t>
            </a:r>
          </a:p>
        </p:txBody>
      </p:sp>
      <p:sp>
        <p:nvSpPr>
          <p:cNvPr id="5" name="Oval 4"/>
          <p:cNvSpPr/>
          <p:nvPr/>
        </p:nvSpPr>
        <p:spPr>
          <a:xfrm>
            <a:off x="548640" y="1938528"/>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38528"/>
            <a:ext cx="384048" cy="384048"/>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1</a:t>
            </a:r>
          </a:p>
        </p:txBody>
      </p:sp>
      <p:sp>
        <p:nvSpPr>
          <p:cNvPr id="7" name="TextBox 6"/>
          <p:cNvSpPr txBox="1"/>
          <p:nvPr/>
        </p:nvSpPr>
        <p:spPr>
          <a:xfrm>
            <a:off x="1078992" y="1920240"/>
            <a:ext cx="6601968" cy="292608"/>
          </a:xfrm>
          <a:prstGeom prst="rect">
            <a:avLst/>
          </a:prstGeom>
          <a:noFill/>
        </p:spPr>
        <p:txBody>
          <a:bodyPr wrap="square" lIns="0" rIns="0" tIns="0" bIns="0" anchor="t">
            <a:spAutoFit/>
          </a:bodyPr>
          <a:lstStyle/>
          <a:p>
            <a:r>
              <a:rPr sz="1400" b="1">
                <a:solidFill>
                  <a:srgbClr val="23262E"/>
                </a:solidFill>
                <a:latin typeface="Meiryo"/>
                <a:ea typeface="Meiryo"/>
              </a:rPr>
              <a:t xml:space="preserve">「画像切り抜き」画面を開き、プロジェクトを選択</a:t>
            </a:r>
          </a:p>
        </p:txBody>
      </p:sp>
      <p:sp>
        <p:nvSpPr>
          <p:cNvPr id="8" name="Oval 7"/>
          <p:cNvSpPr/>
          <p:nvPr/>
        </p:nvSpPr>
        <p:spPr>
          <a:xfrm>
            <a:off x="548640" y="2670048"/>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670048"/>
            <a:ext cx="384048" cy="384048"/>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2</a:t>
            </a:r>
          </a:p>
        </p:txBody>
      </p:sp>
      <p:sp>
        <p:nvSpPr>
          <p:cNvPr id="10" name="TextBox 9"/>
          <p:cNvSpPr txBox="1"/>
          <p:nvPr/>
        </p:nvSpPr>
        <p:spPr>
          <a:xfrm>
            <a:off x="1078992" y="2651760"/>
            <a:ext cx="6601968" cy="292608"/>
          </a:xfrm>
          <a:prstGeom prst="rect">
            <a:avLst/>
          </a:prstGeom>
          <a:noFill/>
        </p:spPr>
        <p:txBody>
          <a:bodyPr wrap="square" lIns="0" rIns="0" tIns="0" bIns="0" anchor="t">
            <a:spAutoFit/>
          </a:bodyPr>
          <a:lstStyle/>
          <a:p>
            <a:r>
              <a:rPr sz="1400" b="1">
                <a:solidFill>
                  <a:srgbClr val="23262E"/>
                </a:solidFill>
                <a:latin typeface="Meiryo"/>
                <a:ea typeface="Meiryo"/>
              </a:rPr>
              <a:t xml:space="preserve">画像の上でマウスをドラッグして切り抜き範囲を指定</a:t>
            </a:r>
          </a:p>
        </p:txBody>
      </p:sp>
      <p:sp>
        <p:nvSpPr>
          <p:cNvPr id="11" name="Oval 10"/>
          <p:cNvSpPr/>
          <p:nvPr/>
        </p:nvSpPr>
        <p:spPr>
          <a:xfrm>
            <a:off x="548640" y="3401568"/>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401568"/>
            <a:ext cx="384048" cy="384048"/>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3</a:t>
            </a:r>
          </a:p>
        </p:txBody>
      </p:sp>
      <p:sp>
        <p:nvSpPr>
          <p:cNvPr id="13" name="TextBox 12"/>
          <p:cNvSpPr txBox="1"/>
          <p:nvPr/>
        </p:nvSpPr>
        <p:spPr>
          <a:xfrm>
            <a:off x="1078992" y="3383280"/>
            <a:ext cx="6601968" cy="292608"/>
          </a:xfrm>
          <a:prstGeom prst="rect">
            <a:avLst/>
          </a:prstGeom>
          <a:noFill/>
        </p:spPr>
        <p:txBody>
          <a:bodyPr wrap="square" lIns="0" rIns="0" tIns="0" bIns="0" anchor="t">
            <a:spAutoFit/>
          </a:bodyPr>
          <a:lstStyle/>
          <a:p>
            <a:r>
              <a:rPr sz="1400" b="1">
                <a:solidFill>
                  <a:srgbClr val="23262E"/>
                </a:solidFill>
                <a:latin typeface="Meiryo"/>
                <a:ea typeface="Meiryo"/>
              </a:rPr>
              <a:t xml:space="preserve">「切り抜き」ボタンを押す</a:t>
            </a:r>
          </a:p>
        </p:txBody>
      </p:sp>
      <p:sp>
        <p:nvSpPr>
          <p:cNvPr id="14" name="TextBox 13"/>
          <p:cNvSpPr txBox="1"/>
          <p:nvPr/>
        </p:nvSpPr>
        <p:spPr>
          <a:xfrm>
            <a:off x="1078992" y="3675888"/>
            <a:ext cx="6601968" cy="310896"/>
          </a:xfrm>
          <a:prstGeom prst="rect">
            <a:avLst/>
          </a:prstGeom>
          <a:noFill/>
        </p:spPr>
        <p:txBody>
          <a:bodyPr wrap="square" lIns="0" rIns="0" tIns="0" bIns="0" anchor="t">
            <a:spAutoFit/>
          </a:bodyPr>
          <a:lstStyle/>
          <a:p>
            <a:r>
              <a:rPr sz="1150" b="0">
                <a:solidFill>
                  <a:srgbClr val="5A6272"/>
                </a:solidFill>
                <a:latin typeface="Meiryo"/>
                <a:ea typeface="Meiryo"/>
              </a:rPr>
              <a:t xml:space="preserve">指定した範囲が全画像に一括適用されて保存されます</a:t>
            </a:r>
          </a:p>
        </p:txBody>
      </p:sp>
      <p:sp>
        <p:nvSpPr>
          <p:cNvPr id="15" name="Rounded Rectangle 14"/>
          <p:cNvSpPr/>
          <p:nvPr/>
        </p:nvSpPr>
        <p:spPr>
          <a:xfrm>
            <a:off x="8229600" y="1920240"/>
            <a:ext cx="3383280" cy="1600200"/>
          </a:xfrm>
          <a:prstGeom prst="roundRect">
            <a:avLst>
              <a:gd name="adj" fmla="val 12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30768" y="2048256"/>
            <a:ext cx="2980944" cy="274320"/>
          </a:xfrm>
          <a:prstGeom prst="rect">
            <a:avLst/>
          </a:prstGeom>
          <a:noFill/>
        </p:spPr>
        <p:txBody>
          <a:bodyPr wrap="square" lIns="0" rIns="0" tIns="0" bIns="0" anchor="t">
            <a:spAutoFit/>
          </a:bodyPr>
          <a:lstStyle/>
          <a:p>
            <a:r>
              <a:rPr sz="1300" b="1">
                <a:solidFill>
                  <a:srgbClr val="1E2761"/>
                </a:solidFill>
                <a:latin typeface="Meiryo"/>
                <a:ea typeface="Meiryo"/>
              </a:rPr>
              <a:t xml:space="preserve">省略してよい場合</a:t>
            </a:r>
          </a:p>
        </p:txBody>
      </p:sp>
      <p:sp>
        <p:nvSpPr>
          <p:cNvPr id="17" name="TextBox 16"/>
          <p:cNvSpPr txBox="1"/>
          <p:nvPr/>
        </p:nvSpPr>
        <p:spPr>
          <a:xfrm>
            <a:off x="8430768" y="2359152"/>
            <a:ext cx="2980944" cy="1051560"/>
          </a:xfrm>
          <a:prstGeom prst="rect">
            <a:avLst/>
          </a:prstGeom>
          <a:noFill/>
        </p:spPr>
        <p:txBody>
          <a:bodyPr wrap="square" lIns="0" rIns="0" tIns="0" bIns="0" anchor="t">
            <a:spAutoFit/>
          </a:bodyPr>
          <a:lstStyle/>
          <a:p>
            <a:r>
              <a:rPr sz="1150" b="0">
                <a:solidFill>
                  <a:srgbClr val="23262E"/>
                </a:solidFill>
                <a:latin typeface="Meiryo"/>
                <a:ea typeface="Meiryo"/>
              </a:rPr>
              <a:t xml:space="preserve">箱がカメラ画面いっぱいに写っている場合は、この工程を飛ばして次へ進んでOKです。</a:t>
            </a:r>
          </a:p>
        </p:txBody>
      </p:sp>
      <p:sp>
        <p:nvSpPr>
          <p:cNvPr id="18" name="TextBox 17"/>
          <p:cNvSpPr txBox="1"/>
          <p:nvPr/>
        </p:nvSpPr>
        <p:spPr>
          <a:xfrm>
            <a:off x="11292840" y="6473952"/>
            <a:ext cx="640080" cy="274320"/>
          </a:xfrm>
          <a:prstGeom prst="rect">
            <a:avLst/>
          </a:prstGeom>
          <a:noFill/>
        </p:spPr>
        <p:txBody>
          <a:bodyPr wrap="square" lIns="0" rIns="0" tIns="0" bIns="0" anchor="t">
            <a:spAutoFit/>
          </a:bodyPr>
          <a:lstStyle/>
          <a:p>
            <a:pPr algn="r"/>
            <a:r>
              <a:rPr sz="1000" b="0">
                <a:solidFill>
                  <a:srgbClr val="5A6272"/>
                </a:solidFill>
                <a:latin typeface="Meiryo"/>
                <a:ea typeface="Meiryo"/>
              </a:rPr>
              <a:t xml:space="preserve">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64240" cy="292608"/>
          </a:xfrm>
          <a:prstGeom prst="rect">
            <a:avLst/>
          </a:prstGeom>
          <a:noFill/>
        </p:spPr>
        <p:txBody>
          <a:bodyPr wrap="square" lIns="0" rIns="0" tIns="0" bIns="0" anchor="t">
            <a:spAutoFit/>
          </a:bodyPr>
          <a:lstStyle/>
          <a:p>
            <a:r>
              <a:rPr sz="1200" b="1">
                <a:solidFill>
                  <a:srgbClr val="3A4A8C"/>
                </a:solidFill>
                <a:latin typeface="Meiryo"/>
                <a:ea typeface="Meiryo"/>
              </a:rPr>
              <a:t xml:space="preserve">STEP 3（1/2）</a:t>
            </a:r>
          </a:p>
        </p:txBody>
      </p:sp>
      <p:sp>
        <p:nvSpPr>
          <p:cNvPr id="3" name="TextBox 2"/>
          <p:cNvSpPr txBox="1"/>
          <p:nvPr/>
        </p:nvSpPr>
        <p:spPr>
          <a:xfrm>
            <a:off x="548640" y="566928"/>
            <a:ext cx="11064240" cy="603504"/>
          </a:xfrm>
          <a:prstGeom prst="rect">
            <a:avLst/>
          </a:prstGeom>
          <a:noFill/>
        </p:spPr>
        <p:txBody>
          <a:bodyPr wrap="square" lIns="0" rIns="0" tIns="0" bIns="0" anchor="t">
            <a:spAutoFit/>
          </a:bodyPr>
          <a:lstStyle/>
          <a:p>
            <a:r>
              <a:rPr sz="2600" b="1">
                <a:solidFill>
                  <a:srgbClr val="23262E"/>
                </a:solidFill>
                <a:latin typeface="Meiryo"/>
                <a:ea typeface="Meiryo"/>
              </a:rPr>
              <a:t xml:space="preserve">5. アノテーション（AIに部品を教える）</a:t>
            </a:r>
          </a:p>
        </p:txBody>
      </p:sp>
      <p:sp>
        <p:nvSpPr>
          <p:cNvPr id="4" name="TextBox 3"/>
          <p:cNvSpPr txBox="1"/>
          <p:nvPr/>
        </p:nvSpPr>
        <p:spPr>
          <a:xfrm>
            <a:off x="548640" y="1298448"/>
            <a:ext cx="10972800" cy="365760"/>
          </a:xfrm>
          <a:prstGeom prst="rect">
            <a:avLst/>
          </a:prstGeom>
          <a:noFill/>
        </p:spPr>
        <p:txBody>
          <a:bodyPr wrap="square" lIns="0" rIns="0" tIns="0" bIns="0" anchor="t">
            <a:spAutoFit/>
          </a:bodyPr>
          <a:lstStyle/>
          <a:p>
            <a:r>
              <a:rPr sz="1350" b="0">
                <a:solidFill>
                  <a:srgbClr val="23262E"/>
                </a:solidFill>
                <a:latin typeface="Meiryo"/>
                <a:ea typeface="Meiryo"/>
              </a:rPr>
              <a:t xml:space="preserve">画像1枚1枚に「ここに部品がある」という枠（ボックス）とラベル（部品名）を付けます。この作業の丁寧さがAIの精度を決めます。</a:t>
            </a:r>
          </a:p>
        </p:txBody>
      </p:sp>
      <p:sp>
        <p:nvSpPr>
          <p:cNvPr id="5" name="TextBox 4"/>
          <p:cNvSpPr txBox="1"/>
          <p:nvPr/>
        </p:nvSpPr>
        <p:spPr>
          <a:xfrm>
            <a:off x="548640" y="1920240"/>
            <a:ext cx="5486400" cy="320040"/>
          </a:xfrm>
          <a:prstGeom prst="rect">
            <a:avLst/>
          </a:prstGeom>
          <a:noFill/>
        </p:spPr>
        <p:txBody>
          <a:bodyPr wrap="square" lIns="0" rIns="0" tIns="0" bIns="0" anchor="t">
            <a:spAutoFit/>
          </a:bodyPr>
          <a:lstStyle/>
          <a:p>
            <a:r>
              <a:rPr sz="1500" b="1">
                <a:solidFill>
                  <a:srgbClr val="1E2761"/>
                </a:solidFill>
                <a:latin typeface="Meiryo"/>
                <a:ea typeface="Meiryo"/>
              </a:rPr>
              <a:t xml:space="preserve">ラベルの登録</a:t>
            </a:r>
          </a:p>
        </p:txBody>
      </p:sp>
      <p:sp>
        <p:nvSpPr>
          <p:cNvPr id="6" name="Oval 5"/>
          <p:cNvSpPr/>
          <p:nvPr/>
        </p:nvSpPr>
        <p:spPr>
          <a:xfrm>
            <a:off x="548640" y="2350008"/>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50008"/>
            <a:ext cx="384048" cy="384048"/>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1</a:t>
            </a:r>
          </a:p>
        </p:txBody>
      </p:sp>
      <p:sp>
        <p:nvSpPr>
          <p:cNvPr id="8" name="TextBox 7"/>
          <p:cNvSpPr txBox="1"/>
          <p:nvPr/>
        </p:nvSpPr>
        <p:spPr>
          <a:xfrm>
            <a:off x="1078992" y="2331720"/>
            <a:ext cx="4864608" cy="292608"/>
          </a:xfrm>
          <a:prstGeom prst="rect">
            <a:avLst/>
          </a:prstGeom>
          <a:noFill/>
        </p:spPr>
        <p:txBody>
          <a:bodyPr wrap="square" lIns="0" rIns="0" tIns="0" bIns="0" anchor="t">
            <a:spAutoFit/>
          </a:bodyPr>
          <a:lstStyle/>
          <a:p>
            <a:r>
              <a:rPr sz="1400" b="1">
                <a:solidFill>
                  <a:srgbClr val="23262E"/>
                </a:solidFill>
                <a:latin typeface="Meiryo"/>
                <a:ea typeface="Meiryo"/>
              </a:rPr>
              <a:t xml:space="preserve">「アノテーション」画面を開く</a:t>
            </a:r>
          </a:p>
        </p:txBody>
      </p:sp>
      <p:sp>
        <p:nvSpPr>
          <p:cNvPr id="9" name="TextBox 8"/>
          <p:cNvSpPr txBox="1"/>
          <p:nvPr/>
        </p:nvSpPr>
        <p:spPr>
          <a:xfrm>
            <a:off x="1078992" y="2624327"/>
            <a:ext cx="4864608" cy="310896"/>
          </a:xfrm>
          <a:prstGeom prst="rect">
            <a:avLst/>
          </a:prstGeom>
          <a:noFill/>
        </p:spPr>
        <p:txBody>
          <a:bodyPr wrap="square" lIns="0" rIns="0" tIns="0" bIns="0" anchor="t">
            <a:spAutoFit/>
          </a:bodyPr>
          <a:lstStyle/>
          <a:p>
            <a:r>
              <a:rPr sz="1150" b="0">
                <a:solidFill>
                  <a:srgbClr val="5A6272"/>
                </a:solidFill>
                <a:latin typeface="Meiryo"/>
                <a:ea typeface="Meiryo"/>
              </a:rPr>
              <a:t xml:space="preserve">プロジェクトを選択</a:t>
            </a:r>
          </a:p>
        </p:txBody>
      </p:sp>
      <p:sp>
        <p:nvSpPr>
          <p:cNvPr id="10" name="Oval 9"/>
          <p:cNvSpPr/>
          <p:nvPr/>
        </p:nvSpPr>
        <p:spPr>
          <a:xfrm>
            <a:off x="548640" y="3127248"/>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127248"/>
            <a:ext cx="384048" cy="384048"/>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2</a:t>
            </a:r>
          </a:p>
        </p:txBody>
      </p:sp>
      <p:sp>
        <p:nvSpPr>
          <p:cNvPr id="12" name="TextBox 11"/>
          <p:cNvSpPr txBox="1"/>
          <p:nvPr/>
        </p:nvSpPr>
        <p:spPr>
          <a:xfrm>
            <a:off x="1078992" y="3108960"/>
            <a:ext cx="4864608" cy="292608"/>
          </a:xfrm>
          <a:prstGeom prst="rect">
            <a:avLst/>
          </a:prstGeom>
          <a:noFill/>
        </p:spPr>
        <p:txBody>
          <a:bodyPr wrap="square" lIns="0" rIns="0" tIns="0" bIns="0" anchor="t">
            <a:spAutoFit/>
          </a:bodyPr>
          <a:lstStyle/>
          <a:p>
            <a:r>
              <a:rPr sz="1400" b="1">
                <a:solidFill>
                  <a:srgbClr val="23262E"/>
                </a:solidFill>
                <a:latin typeface="Meiryo"/>
                <a:ea typeface="Meiryo"/>
              </a:rPr>
              <a:t xml:space="preserve">ラベル（部品名）を登録</a:t>
            </a:r>
          </a:p>
        </p:txBody>
      </p:sp>
      <p:sp>
        <p:nvSpPr>
          <p:cNvPr id="13" name="TextBox 12"/>
          <p:cNvSpPr txBox="1"/>
          <p:nvPr/>
        </p:nvSpPr>
        <p:spPr>
          <a:xfrm>
            <a:off x="1078992" y="3401568"/>
            <a:ext cx="4864608" cy="310896"/>
          </a:xfrm>
          <a:prstGeom prst="rect">
            <a:avLst/>
          </a:prstGeom>
          <a:noFill/>
        </p:spPr>
        <p:txBody>
          <a:bodyPr wrap="square" lIns="0" rIns="0" tIns="0" bIns="0" anchor="t">
            <a:spAutoFit/>
          </a:bodyPr>
          <a:lstStyle/>
          <a:p>
            <a:r>
              <a:rPr sz="1150" b="0">
                <a:solidFill>
                  <a:srgbClr val="5A6272"/>
                </a:solidFill>
                <a:latin typeface="Meiryo"/>
                <a:ea typeface="Meiryo"/>
              </a:rPr>
              <a:t xml:space="preserve">部品の種類ごとに1つ（例：bolt、nut）</a:t>
            </a:r>
          </a:p>
        </p:txBody>
      </p:sp>
      <p:sp>
        <p:nvSpPr>
          <p:cNvPr id="14" name="TextBox 13"/>
          <p:cNvSpPr txBox="1"/>
          <p:nvPr/>
        </p:nvSpPr>
        <p:spPr>
          <a:xfrm>
            <a:off x="6309360" y="1920240"/>
            <a:ext cx="5486400" cy="320040"/>
          </a:xfrm>
          <a:prstGeom prst="rect">
            <a:avLst/>
          </a:prstGeom>
          <a:noFill/>
        </p:spPr>
        <p:txBody>
          <a:bodyPr wrap="square" lIns="0" rIns="0" tIns="0" bIns="0" anchor="t">
            <a:spAutoFit/>
          </a:bodyPr>
          <a:lstStyle/>
          <a:p>
            <a:r>
              <a:rPr sz="1500" b="1">
                <a:solidFill>
                  <a:srgbClr val="1E2761"/>
                </a:solidFill>
                <a:latin typeface="Meiryo"/>
                <a:ea typeface="Meiryo"/>
              </a:rPr>
              <a:t xml:space="preserve">枠付け作業</a:t>
            </a:r>
          </a:p>
        </p:txBody>
      </p:sp>
      <p:sp>
        <p:nvSpPr>
          <p:cNvPr id="15" name="Oval 14"/>
          <p:cNvSpPr/>
          <p:nvPr/>
        </p:nvSpPr>
        <p:spPr>
          <a:xfrm>
            <a:off x="6309360" y="2350008"/>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2350008"/>
            <a:ext cx="384048" cy="384048"/>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3</a:t>
            </a:r>
          </a:p>
        </p:txBody>
      </p:sp>
      <p:sp>
        <p:nvSpPr>
          <p:cNvPr id="17" name="TextBox 16"/>
          <p:cNvSpPr txBox="1"/>
          <p:nvPr/>
        </p:nvSpPr>
        <p:spPr>
          <a:xfrm>
            <a:off x="6839712" y="2331720"/>
            <a:ext cx="4773168" cy="292608"/>
          </a:xfrm>
          <a:prstGeom prst="rect">
            <a:avLst/>
          </a:prstGeom>
          <a:noFill/>
        </p:spPr>
        <p:txBody>
          <a:bodyPr wrap="square" lIns="0" rIns="0" tIns="0" bIns="0" anchor="t">
            <a:spAutoFit/>
          </a:bodyPr>
          <a:lstStyle/>
          <a:p>
            <a:r>
              <a:rPr sz="1400" b="1">
                <a:solidFill>
                  <a:srgbClr val="23262E"/>
                </a:solidFill>
                <a:latin typeface="Meiryo"/>
                <a:ea typeface="Meiryo"/>
              </a:rPr>
              <a:t xml:space="preserve">画像一覧から1枚目を開く</a:t>
            </a:r>
          </a:p>
        </p:txBody>
      </p:sp>
      <p:sp>
        <p:nvSpPr>
          <p:cNvPr id="18" name="Oval 17"/>
          <p:cNvSpPr/>
          <p:nvPr/>
        </p:nvSpPr>
        <p:spPr>
          <a:xfrm>
            <a:off x="6309360" y="3127248"/>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3127248"/>
            <a:ext cx="384048" cy="384048"/>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4</a:t>
            </a:r>
          </a:p>
        </p:txBody>
      </p:sp>
      <p:sp>
        <p:nvSpPr>
          <p:cNvPr id="20" name="TextBox 19"/>
          <p:cNvSpPr txBox="1"/>
          <p:nvPr/>
        </p:nvSpPr>
        <p:spPr>
          <a:xfrm>
            <a:off x="6839712" y="3108960"/>
            <a:ext cx="4773168" cy="292608"/>
          </a:xfrm>
          <a:prstGeom prst="rect">
            <a:avLst/>
          </a:prstGeom>
          <a:noFill/>
        </p:spPr>
        <p:txBody>
          <a:bodyPr wrap="square" lIns="0" rIns="0" tIns="0" bIns="0" anchor="t">
            <a:spAutoFit/>
          </a:bodyPr>
          <a:lstStyle/>
          <a:p>
            <a:r>
              <a:rPr sz="1400" b="1">
                <a:solidFill>
                  <a:srgbClr val="23262E"/>
                </a:solidFill>
                <a:latin typeface="Meiryo"/>
                <a:ea typeface="Meiryo"/>
              </a:rPr>
              <a:t xml:space="preserve">部品を1個ずつドラッグで枠囲み</a:t>
            </a:r>
          </a:p>
        </p:txBody>
      </p:sp>
      <p:sp>
        <p:nvSpPr>
          <p:cNvPr id="21" name="TextBox 20"/>
          <p:cNvSpPr txBox="1"/>
          <p:nvPr/>
        </p:nvSpPr>
        <p:spPr>
          <a:xfrm>
            <a:off x="6839712" y="3401568"/>
            <a:ext cx="4773168" cy="310896"/>
          </a:xfrm>
          <a:prstGeom prst="rect">
            <a:avLst/>
          </a:prstGeom>
          <a:noFill/>
        </p:spPr>
        <p:txBody>
          <a:bodyPr wrap="square" lIns="0" rIns="0" tIns="0" bIns="0" anchor="t">
            <a:spAutoFit/>
          </a:bodyPr>
          <a:lstStyle/>
          <a:p>
            <a:r>
              <a:rPr sz="1150" b="0">
                <a:solidFill>
                  <a:srgbClr val="5A6272"/>
                </a:solidFill>
                <a:latin typeface="Meiryo"/>
                <a:ea typeface="Meiryo"/>
              </a:rPr>
              <a:t xml:space="preserve">囲んだらラベルを選ぶ</a:t>
            </a:r>
          </a:p>
        </p:txBody>
      </p:sp>
      <p:sp>
        <p:nvSpPr>
          <p:cNvPr id="22" name="Oval 21"/>
          <p:cNvSpPr/>
          <p:nvPr/>
        </p:nvSpPr>
        <p:spPr>
          <a:xfrm>
            <a:off x="6309360" y="3904487"/>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9360" y="3904487"/>
            <a:ext cx="384048" cy="384048"/>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5</a:t>
            </a:r>
          </a:p>
        </p:txBody>
      </p:sp>
      <p:sp>
        <p:nvSpPr>
          <p:cNvPr id="24" name="TextBox 23"/>
          <p:cNvSpPr txBox="1"/>
          <p:nvPr/>
        </p:nvSpPr>
        <p:spPr>
          <a:xfrm>
            <a:off x="6839712" y="3886200"/>
            <a:ext cx="4773168" cy="292608"/>
          </a:xfrm>
          <a:prstGeom prst="rect">
            <a:avLst/>
          </a:prstGeom>
          <a:noFill/>
        </p:spPr>
        <p:txBody>
          <a:bodyPr wrap="square" lIns="0" rIns="0" tIns="0" bIns="0" anchor="t">
            <a:spAutoFit/>
          </a:bodyPr>
          <a:lstStyle/>
          <a:p>
            <a:r>
              <a:rPr sz="1400" b="1">
                <a:solidFill>
                  <a:srgbClr val="23262E"/>
                </a:solidFill>
                <a:latin typeface="Meiryo"/>
                <a:ea typeface="Meiryo"/>
              </a:rPr>
              <a:t xml:space="preserve">「保存」して次の画像へ</a:t>
            </a:r>
          </a:p>
        </p:txBody>
      </p:sp>
      <p:sp>
        <p:nvSpPr>
          <p:cNvPr id="25" name="TextBox 24"/>
          <p:cNvSpPr txBox="1"/>
          <p:nvPr/>
        </p:nvSpPr>
        <p:spPr>
          <a:xfrm>
            <a:off x="6839712" y="4178808"/>
            <a:ext cx="4773168" cy="310896"/>
          </a:xfrm>
          <a:prstGeom prst="rect">
            <a:avLst/>
          </a:prstGeom>
          <a:noFill/>
        </p:spPr>
        <p:txBody>
          <a:bodyPr wrap="square" lIns="0" rIns="0" tIns="0" bIns="0" anchor="t">
            <a:spAutoFit/>
          </a:bodyPr>
          <a:lstStyle/>
          <a:p>
            <a:r>
              <a:rPr sz="1150" b="0">
                <a:solidFill>
                  <a:srgbClr val="5A6272"/>
                </a:solidFill>
                <a:latin typeface="Meiryo"/>
                <a:ea typeface="Meiryo"/>
              </a:rPr>
              <a:t xml:space="preserve">全画像に対して繰り返す</a:t>
            </a:r>
          </a:p>
        </p:txBody>
      </p:sp>
      <p:sp>
        <p:nvSpPr>
          <p:cNvPr id="26" name="Rounded Rectangle 25"/>
          <p:cNvSpPr/>
          <p:nvPr/>
        </p:nvSpPr>
        <p:spPr>
          <a:xfrm>
            <a:off x="548640" y="4892040"/>
            <a:ext cx="11064240" cy="960120"/>
          </a:xfrm>
          <a:prstGeom prst="roundRect">
            <a:avLst>
              <a:gd name="adj" fmla="val 12000"/>
            </a:avLst>
          </a:prstGeom>
          <a:solidFill>
            <a:srgbClr val="FDF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13232" y="5038344"/>
            <a:ext cx="310896" cy="310896"/>
          </a:xfrm>
          <a:prstGeom prst="ellipse">
            <a:avLst/>
          </a:prstGeom>
          <a:solidFill>
            <a:srgbClr val="D97B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 y="5038344"/>
            <a:ext cx="310896" cy="310896"/>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a:t>
            </a:r>
          </a:p>
        </p:txBody>
      </p:sp>
      <p:sp>
        <p:nvSpPr>
          <p:cNvPr id="29" name="TextBox 28"/>
          <p:cNvSpPr txBox="1"/>
          <p:nvPr/>
        </p:nvSpPr>
        <p:spPr>
          <a:xfrm>
            <a:off x="1152144" y="5020055"/>
            <a:ext cx="10287000" cy="292608"/>
          </a:xfrm>
          <a:prstGeom prst="rect">
            <a:avLst/>
          </a:prstGeom>
          <a:noFill/>
        </p:spPr>
        <p:txBody>
          <a:bodyPr wrap="square" lIns="0" rIns="0" tIns="0" bIns="0" anchor="t">
            <a:spAutoFit/>
          </a:bodyPr>
          <a:lstStyle/>
          <a:p>
            <a:r>
              <a:rPr sz="1250" b="1">
                <a:solidFill>
                  <a:srgbClr val="8A4B12"/>
                </a:solidFill>
                <a:latin typeface="Meiryo"/>
                <a:ea typeface="Meiryo"/>
              </a:rPr>
              <a:t xml:space="preserve">時間はかかりますが最重要工程です</a:t>
            </a:r>
          </a:p>
        </p:txBody>
      </p:sp>
      <p:sp>
        <p:nvSpPr>
          <p:cNvPr id="30" name="TextBox 29"/>
          <p:cNvSpPr txBox="1"/>
          <p:nvPr/>
        </p:nvSpPr>
        <p:spPr>
          <a:xfrm>
            <a:off x="1152144" y="5312664"/>
            <a:ext cx="10287000" cy="448056"/>
          </a:xfrm>
          <a:prstGeom prst="rect">
            <a:avLst/>
          </a:prstGeom>
          <a:noFill/>
        </p:spPr>
        <p:txBody>
          <a:bodyPr wrap="square" lIns="0" rIns="0" tIns="0" bIns="0" anchor="t">
            <a:spAutoFit/>
          </a:bodyPr>
          <a:lstStyle/>
          <a:p>
            <a:r>
              <a:rPr sz="1100" b="0">
                <a:solidFill>
                  <a:srgbClr val="8A4B12"/>
                </a:solidFill>
                <a:latin typeface="Meiryo"/>
                <a:ea typeface="Meiryo"/>
              </a:rPr>
              <a:t xml:space="preserve">枠付けの正確さ＝AIの検出精度です。次ページの「枠付けのルール」を守って作業してください。</a:t>
            </a:r>
          </a:p>
        </p:txBody>
      </p:sp>
      <p:sp>
        <p:nvSpPr>
          <p:cNvPr id="31" name="TextBox 30"/>
          <p:cNvSpPr txBox="1"/>
          <p:nvPr/>
        </p:nvSpPr>
        <p:spPr>
          <a:xfrm>
            <a:off x="11292840" y="6473952"/>
            <a:ext cx="640080" cy="274320"/>
          </a:xfrm>
          <a:prstGeom prst="rect">
            <a:avLst/>
          </a:prstGeom>
          <a:noFill/>
        </p:spPr>
        <p:txBody>
          <a:bodyPr wrap="square" lIns="0" rIns="0" tIns="0" bIns="0" anchor="t">
            <a:spAutoFit/>
          </a:bodyPr>
          <a:lstStyle/>
          <a:p>
            <a:pPr algn="r"/>
            <a:r>
              <a:rPr sz="1000" b="0">
                <a:solidFill>
                  <a:srgbClr val="5A6272"/>
                </a:solidFill>
                <a:latin typeface="Meiryo"/>
                <a:ea typeface="Meiryo"/>
              </a:rPr>
              <a:t xml:space="preserve">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64240" cy="292608"/>
          </a:xfrm>
          <a:prstGeom prst="rect">
            <a:avLst/>
          </a:prstGeom>
          <a:noFill/>
        </p:spPr>
        <p:txBody>
          <a:bodyPr wrap="square" lIns="0" rIns="0" tIns="0" bIns="0" anchor="t">
            <a:spAutoFit/>
          </a:bodyPr>
          <a:lstStyle/>
          <a:p>
            <a:r>
              <a:rPr sz="1200" b="1">
                <a:solidFill>
                  <a:srgbClr val="3A4A8C"/>
                </a:solidFill>
                <a:latin typeface="Meiryo"/>
                <a:ea typeface="Meiryo"/>
              </a:rPr>
              <a:t xml:space="preserve">STEP 3（2/2）</a:t>
            </a:r>
          </a:p>
        </p:txBody>
      </p:sp>
      <p:sp>
        <p:nvSpPr>
          <p:cNvPr id="3" name="TextBox 2"/>
          <p:cNvSpPr txBox="1"/>
          <p:nvPr/>
        </p:nvSpPr>
        <p:spPr>
          <a:xfrm>
            <a:off x="548640" y="566928"/>
            <a:ext cx="11064240" cy="603504"/>
          </a:xfrm>
          <a:prstGeom prst="rect">
            <a:avLst/>
          </a:prstGeom>
          <a:noFill/>
        </p:spPr>
        <p:txBody>
          <a:bodyPr wrap="square" lIns="0" rIns="0" tIns="0" bIns="0" anchor="t">
            <a:spAutoFit/>
          </a:bodyPr>
          <a:lstStyle/>
          <a:p>
            <a:r>
              <a:rPr sz="2600" b="1">
                <a:solidFill>
                  <a:srgbClr val="23262E"/>
                </a:solidFill>
                <a:latin typeface="Meiryo"/>
                <a:ea typeface="Meiryo"/>
              </a:rPr>
              <a:t xml:space="preserve">5. 枠付けのルール と データ分割</a:t>
            </a:r>
          </a:p>
        </p:txBody>
      </p:sp>
      <p:sp>
        <p:nvSpPr>
          <p:cNvPr id="4" name="Rounded Rectangle 3"/>
          <p:cNvSpPr/>
          <p:nvPr/>
        </p:nvSpPr>
        <p:spPr>
          <a:xfrm>
            <a:off x="548640" y="1554480"/>
            <a:ext cx="3611880" cy="1828800"/>
          </a:xfrm>
          <a:prstGeom prst="roundRect">
            <a:avLst>
              <a:gd name="adj" fmla="val 12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49808" y="1755648"/>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755648"/>
            <a:ext cx="384048" cy="384048"/>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1</a:t>
            </a:r>
          </a:p>
        </p:txBody>
      </p:sp>
      <p:sp>
        <p:nvSpPr>
          <p:cNvPr id="7" name="TextBox 6"/>
          <p:cNvSpPr txBox="1"/>
          <p:nvPr/>
        </p:nvSpPr>
        <p:spPr>
          <a:xfrm>
            <a:off x="1261872" y="1801368"/>
            <a:ext cx="2743200" cy="329184"/>
          </a:xfrm>
          <a:prstGeom prst="rect">
            <a:avLst/>
          </a:prstGeom>
          <a:noFill/>
        </p:spPr>
        <p:txBody>
          <a:bodyPr wrap="square" lIns="0" rIns="0" tIns="0" bIns="0" anchor="t">
            <a:spAutoFit/>
          </a:bodyPr>
          <a:lstStyle/>
          <a:p>
            <a:r>
              <a:rPr sz="1400" b="1">
                <a:solidFill>
                  <a:srgbClr val="1E2761"/>
                </a:solidFill>
                <a:latin typeface="Meiryo"/>
                <a:ea typeface="Meiryo"/>
              </a:rPr>
              <a:t xml:space="preserve">ぴったり囲む</a:t>
            </a:r>
          </a:p>
        </p:txBody>
      </p:sp>
      <p:sp>
        <p:nvSpPr>
          <p:cNvPr id="8" name="TextBox 7"/>
          <p:cNvSpPr txBox="1"/>
          <p:nvPr/>
        </p:nvSpPr>
        <p:spPr>
          <a:xfrm>
            <a:off x="768096" y="2286000"/>
            <a:ext cx="3200400" cy="1005840"/>
          </a:xfrm>
          <a:prstGeom prst="rect">
            <a:avLst/>
          </a:prstGeom>
          <a:noFill/>
        </p:spPr>
        <p:txBody>
          <a:bodyPr wrap="square" lIns="0" rIns="0" tIns="0" bIns="0" anchor="t">
            <a:spAutoFit/>
          </a:bodyPr>
          <a:lstStyle/>
          <a:p>
            <a:r>
              <a:rPr sz="1150" b="0">
                <a:solidFill>
                  <a:srgbClr val="23262E"/>
                </a:solidFill>
                <a:latin typeface="Meiryo"/>
                <a:ea typeface="Meiryo"/>
              </a:rPr>
              <a:t xml:space="preserve">部品にぴったり合わせて囲む。余白を大きく取らない</a:t>
            </a:r>
          </a:p>
        </p:txBody>
      </p:sp>
      <p:sp>
        <p:nvSpPr>
          <p:cNvPr id="9" name="Rounded Rectangle 8"/>
          <p:cNvSpPr/>
          <p:nvPr/>
        </p:nvSpPr>
        <p:spPr>
          <a:xfrm>
            <a:off x="4343400" y="1554480"/>
            <a:ext cx="3611880" cy="1828800"/>
          </a:xfrm>
          <a:prstGeom prst="roundRect">
            <a:avLst>
              <a:gd name="adj" fmla="val 12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44568" y="1755648"/>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4568" y="1755648"/>
            <a:ext cx="384048" cy="384048"/>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2</a:t>
            </a:r>
          </a:p>
        </p:txBody>
      </p:sp>
      <p:sp>
        <p:nvSpPr>
          <p:cNvPr id="12" name="TextBox 11"/>
          <p:cNvSpPr txBox="1"/>
          <p:nvPr/>
        </p:nvSpPr>
        <p:spPr>
          <a:xfrm>
            <a:off x="5056632" y="1801368"/>
            <a:ext cx="2743200" cy="329184"/>
          </a:xfrm>
          <a:prstGeom prst="rect">
            <a:avLst/>
          </a:prstGeom>
          <a:noFill/>
        </p:spPr>
        <p:txBody>
          <a:bodyPr wrap="square" lIns="0" rIns="0" tIns="0" bIns="0" anchor="t">
            <a:spAutoFit/>
          </a:bodyPr>
          <a:lstStyle/>
          <a:p>
            <a:r>
              <a:rPr sz="1400" b="1">
                <a:solidFill>
                  <a:srgbClr val="1E2761"/>
                </a:solidFill>
                <a:latin typeface="Meiryo"/>
                <a:ea typeface="Meiryo"/>
              </a:rPr>
              <a:t xml:space="preserve">すべて囲む</a:t>
            </a:r>
          </a:p>
        </p:txBody>
      </p:sp>
      <p:sp>
        <p:nvSpPr>
          <p:cNvPr id="13" name="TextBox 12"/>
          <p:cNvSpPr txBox="1"/>
          <p:nvPr/>
        </p:nvSpPr>
        <p:spPr>
          <a:xfrm>
            <a:off x="4562856" y="2286000"/>
            <a:ext cx="3200400" cy="1005840"/>
          </a:xfrm>
          <a:prstGeom prst="rect">
            <a:avLst/>
          </a:prstGeom>
          <a:noFill/>
        </p:spPr>
        <p:txBody>
          <a:bodyPr wrap="square" lIns="0" rIns="0" tIns="0" bIns="0" anchor="t">
            <a:spAutoFit/>
          </a:bodyPr>
          <a:lstStyle/>
          <a:p>
            <a:r>
              <a:rPr sz="1150" b="0">
                <a:solidFill>
                  <a:srgbClr val="23262E"/>
                </a:solidFill>
                <a:latin typeface="Meiryo"/>
                <a:ea typeface="Meiryo"/>
              </a:rPr>
              <a:t xml:space="preserve">写っている部品は全部囲む。囲み忘れ＝「これは部品ではない」と教えることになる</a:t>
            </a:r>
          </a:p>
        </p:txBody>
      </p:sp>
      <p:sp>
        <p:nvSpPr>
          <p:cNvPr id="14" name="Rounded Rectangle 13"/>
          <p:cNvSpPr/>
          <p:nvPr/>
        </p:nvSpPr>
        <p:spPr>
          <a:xfrm>
            <a:off x="8138160" y="1554480"/>
            <a:ext cx="3611880" cy="1828800"/>
          </a:xfrm>
          <a:prstGeom prst="roundRect">
            <a:avLst>
              <a:gd name="adj" fmla="val 12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339328" y="1755648"/>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9328" y="1755648"/>
            <a:ext cx="384048" cy="384048"/>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3</a:t>
            </a:r>
          </a:p>
        </p:txBody>
      </p:sp>
      <p:sp>
        <p:nvSpPr>
          <p:cNvPr id="17" name="TextBox 16"/>
          <p:cNvSpPr txBox="1"/>
          <p:nvPr/>
        </p:nvSpPr>
        <p:spPr>
          <a:xfrm>
            <a:off x="8851392" y="1801368"/>
            <a:ext cx="2743200" cy="329184"/>
          </a:xfrm>
          <a:prstGeom prst="rect">
            <a:avLst/>
          </a:prstGeom>
          <a:noFill/>
        </p:spPr>
        <p:txBody>
          <a:bodyPr wrap="square" lIns="0" rIns="0" tIns="0" bIns="0" anchor="t">
            <a:spAutoFit/>
          </a:bodyPr>
          <a:lstStyle/>
          <a:p>
            <a:r>
              <a:rPr sz="1400" b="1">
                <a:solidFill>
                  <a:srgbClr val="1E2761"/>
                </a:solidFill>
                <a:latin typeface="Meiryo"/>
                <a:ea typeface="Meiryo"/>
              </a:rPr>
              <a:t xml:space="preserve">隠れていても囲む</a:t>
            </a:r>
          </a:p>
        </p:txBody>
      </p:sp>
      <p:sp>
        <p:nvSpPr>
          <p:cNvPr id="18" name="TextBox 17"/>
          <p:cNvSpPr txBox="1"/>
          <p:nvPr/>
        </p:nvSpPr>
        <p:spPr>
          <a:xfrm>
            <a:off x="8357616" y="2286000"/>
            <a:ext cx="3200400" cy="1005840"/>
          </a:xfrm>
          <a:prstGeom prst="rect">
            <a:avLst/>
          </a:prstGeom>
          <a:noFill/>
        </p:spPr>
        <p:txBody>
          <a:bodyPr wrap="square" lIns="0" rIns="0" tIns="0" bIns="0" anchor="t">
            <a:spAutoFit/>
          </a:bodyPr>
          <a:lstStyle/>
          <a:p>
            <a:r>
              <a:rPr sz="1150" b="0">
                <a:solidFill>
                  <a:srgbClr val="23262E"/>
                </a:solidFill>
                <a:latin typeface="Meiryo"/>
                <a:ea typeface="Meiryo"/>
              </a:rPr>
              <a:t xml:space="preserve">一部が隠れている部品も、見えている範囲で囲む</a:t>
            </a:r>
          </a:p>
        </p:txBody>
      </p:sp>
      <p:sp>
        <p:nvSpPr>
          <p:cNvPr id="19" name="TextBox 18"/>
          <p:cNvSpPr txBox="1"/>
          <p:nvPr/>
        </p:nvSpPr>
        <p:spPr>
          <a:xfrm>
            <a:off x="548640" y="3749039"/>
            <a:ext cx="7315200" cy="365760"/>
          </a:xfrm>
          <a:prstGeom prst="rect">
            <a:avLst/>
          </a:prstGeom>
          <a:noFill/>
        </p:spPr>
        <p:txBody>
          <a:bodyPr wrap="square" lIns="0" rIns="0" tIns="0" bIns="0" anchor="t">
            <a:spAutoFit/>
          </a:bodyPr>
          <a:lstStyle/>
          <a:p>
            <a:r>
              <a:rPr sz="1600" b="1">
                <a:solidFill>
                  <a:srgbClr val="23262E"/>
                </a:solidFill>
                <a:latin typeface="Meiryo"/>
                <a:ea typeface="Meiryo"/>
              </a:rPr>
              <a:t xml:space="preserve">仕上げ：データ分割</a:t>
            </a:r>
          </a:p>
        </p:txBody>
      </p:sp>
      <p:sp>
        <p:nvSpPr>
          <p:cNvPr id="20" name="Oval 19"/>
          <p:cNvSpPr/>
          <p:nvPr/>
        </p:nvSpPr>
        <p:spPr>
          <a:xfrm>
            <a:off x="548640" y="4224527"/>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4224527"/>
            <a:ext cx="384048" cy="384048"/>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6</a:t>
            </a:r>
          </a:p>
        </p:txBody>
      </p:sp>
      <p:sp>
        <p:nvSpPr>
          <p:cNvPr id="22" name="TextBox 21"/>
          <p:cNvSpPr txBox="1"/>
          <p:nvPr/>
        </p:nvSpPr>
        <p:spPr>
          <a:xfrm>
            <a:off x="1078992" y="4206240"/>
            <a:ext cx="9985248" cy="292608"/>
          </a:xfrm>
          <a:prstGeom prst="rect">
            <a:avLst/>
          </a:prstGeom>
          <a:noFill/>
        </p:spPr>
        <p:txBody>
          <a:bodyPr wrap="square" lIns="0" rIns="0" tIns="0" bIns="0" anchor="t">
            <a:spAutoFit/>
          </a:bodyPr>
          <a:lstStyle/>
          <a:p>
            <a:r>
              <a:rPr sz="1400" b="1">
                <a:solidFill>
                  <a:srgbClr val="23262E"/>
                </a:solidFill>
                <a:latin typeface="Meiryo"/>
                <a:ea typeface="Meiryo"/>
              </a:rPr>
              <a:t xml:space="preserve">全画像のアノテーションが終わったら「画像分割」ボタンを押す</a:t>
            </a:r>
          </a:p>
        </p:txBody>
      </p:sp>
      <p:sp>
        <p:nvSpPr>
          <p:cNvPr id="23" name="TextBox 22"/>
          <p:cNvSpPr txBox="1"/>
          <p:nvPr/>
        </p:nvSpPr>
        <p:spPr>
          <a:xfrm>
            <a:off x="1078992" y="4498848"/>
            <a:ext cx="9985248" cy="457200"/>
          </a:xfrm>
          <a:prstGeom prst="rect">
            <a:avLst/>
          </a:prstGeom>
          <a:noFill/>
        </p:spPr>
        <p:txBody>
          <a:bodyPr wrap="square" lIns="0" rIns="0" tIns="0" bIns="0" anchor="t">
            <a:spAutoFit/>
          </a:bodyPr>
          <a:lstStyle/>
          <a:p>
            <a:r>
              <a:rPr sz="1150" b="0">
                <a:solidFill>
                  <a:srgbClr val="5A6272"/>
                </a:solidFill>
                <a:latin typeface="Meiryo"/>
                <a:ea typeface="Meiryo"/>
              </a:rPr>
              <a:t xml:space="preserve">学習用データと検証用データに自動分割され、学習に必要な設定ファイル（yaml）が自動生成されます</a:t>
            </a:r>
          </a:p>
        </p:txBody>
      </p:sp>
      <p:sp>
        <p:nvSpPr>
          <p:cNvPr id="24" name="TextBox 23"/>
          <p:cNvSpPr txBox="1"/>
          <p:nvPr/>
        </p:nvSpPr>
        <p:spPr>
          <a:xfrm>
            <a:off x="11292840" y="6473952"/>
            <a:ext cx="640080" cy="274320"/>
          </a:xfrm>
          <a:prstGeom prst="rect">
            <a:avLst/>
          </a:prstGeom>
          <a:noFill/>
        </p:spPr>
        <p:txBody>
          <a:bodyPr wrap="square" lIns="0" rIns="0" tIns="0" bIns="0" anchor="t">
            <a:spAutoFit/>
          </a:bodyPr>
          <a:lstStyle/>
          <a:p>
            <a:pPr algn="r"/>
            <a:r>
              <a:rPr sz="1000" b="0">
                <a:solidFill>
                  <a:srgbClr val="5A6272"/>
                </a:solidFill>
                <a:latin typeface="Meiryo"/>
                <a:ea typeface="Meiryo"/>
              </a:rPr>
              <a:t xml:space="preserve">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64240" cy="292608"/>
          </a:xfrm>
          <a:prstGeom prst="rect">
            <a:avLst/>
          </a:prstGeom>
          <a:noFill/>
        </p:spPr>
        <p:txBody>
          <a:bodyPr wrap="square" lIns="0" rIns="0" tIns="0" bIns="0" anchor="t">
            <a:spAutoFit/>
          </a:bodyPr>
          <a:lstStyle/>
          <a:p>
            <a:r>
              <a:rPr sz="1200" b="1">
                <a:solidFill>
                  <a:srgbClr val="3A4A8C"/>
                </a:solidFill>
                <a:latin typeface="Meiryo"/>
                <a:ea typeface="Meiryo"/>
              </a:rPr>
              <a:t xml:space="preserve">STEP 4</a:t>
            </a:r>
          </a:p>
        </p:txBody>
      </p:sp>
      <p:sp>
        <p:nvSpPr>
          <p:cNvPr id="3" name="TextBox 2"/>
          <p:cNvSpPr txBox="1"/>
          <p:nvPr/>
        </p:nvSpPr>
        <p:spPr>
          <a:xfrm>
            <a:off x="548640" y="566928"/>
            <a:ext cx="11064240" cy="603504"/>
          </a:xfrm>
          <a:prstGeom prst="rect">
            <a:avLst/>
          </a:prstGeom>
          <a:noFill/>
        </p:spPr>
        <p:txBody>
          <a:bodyPr wrap="square" lIns="0" rIns="0" tIns="0" bIns="0" anchor="t">
            <a:spAutoFit/>
          </a:bodyPr>
          <a:lstStyle/>
          <a:p>
            <a:r>
              <a:rPr sz="2600" b="1">
                <a:solidFill>
                  <a:srgbClr val="23262E"/>
                </a:solidFill>
                <a:latin typeface="Meiryo"/>
                <a:ea typeface="Meiryo"/>
              </a:rPr>
              <a:t xml:space="preserve">6. 学習（AIに覚えさせる）</a:t>
            </a:r>
          </a:p>
        </p:txBody>
      </p:sp>
      <p:sp>
        <p:nvSpPr>
          <p:cNvPr id="4" name="Oval 3"/>
          <p:cNvSpPr/>
          <p:nvPr/>
        </p:nvSpPr>
        <p:spPr>
          <a:xfrm>
            <a:off x="548640" y="1481328"/>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81328"/>
            <a:ext cx="384048" cy="384048"/>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1</a:t>
            </a:r>
          </a:p>
        </p:txBody>
      </p:sp>
      <p:sp>
        <p:nvSpPr>
          <p:cNvPr id="6" name="TextBox 5"/>
          <p:cNvSpPr txBox="1"/>
          <p:nvPr/>
        </p:nvSpPr>
        <p:spPr>
          <a:xfrm>
            <a:off x="1078992" y="1463040"/>
            <a:ext cx="6236208" cy="292608"/>
          </a:xfrm>
          <a:prstGeom prst="rect">
            <a:avLst/>
          </a:prstGeom>
          <a:noFill/>
        </p:spPr>
        <p:txBody>
          <a:bodyPr wrap="square" lIns="0" rIns="0" tIns="0" bIns="0" anchor="t">
            <a:spAutoFit/>
          </a:bodyPr>
          <a:lstStyle/>
          <a:p>
            <a:r>
              <a:rPr sz="1400" b="1">
                <a:solidFill>
                  <a:srgbClr val="23262E"/>
                </a:solidFill>
                <a:latin typeface="Meiryo"/>
                <a:ea typeface="Meiryo"/>
              </a:rPr>
              <a:t xml:space="preserve">「学習」画面を開き、プロジェクトを選択</a:t>
            </a:r>
          </a:p>
        </p:txBody>
      </p:sp>
      <p:sp>
        <p:nvSpPr>
          <p:cNvPr id="7" name="Oval 6"/>
          <p:cNvSpPr/>
          <p:nvPr/>
        </p:nvSpPr>
        <p:spPr>
          <a:xfrm>
            <a:off x="548640" y="2167128"/>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67128"/>
            <a:ext cx="384048" cy="384048"/>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2</a:t>
            </a:r>
          </a:p>
        </p:txBody>
      </p:sp>
      <p:sp>
        <p:nvSpPr>
          <p:cNvPr id="9" name="TextBox 8"/>
          <p:cNvSpPr txBox="1"/>
          <p:nvPr/>
        </p:nvSpPr>
        <p:spPr>
          <a:xfrm>
            <a:off x="1078992" y="2148840"/>
            <a:ext cx="6236208" cy="292608"/>
          </a:xfrm>
          <a:prstGeom prst="rect">
            <a:avLst/>
          </a:prstGeom>
          <a:noFill/>
        </p:spPr>
        <p:txBody>
          <a:bodyPr wrap="square" lIns="0" rIns="0" tIns="0" bIns="0" anchor="t">
            <a:spAutoFit/>
          </a:bodyPr>
          <a:lstStyle/>
          <a:p>
            <a:r>
              <a:rPr sz="1400" b="1">
                <a:solidFill>
                  <a:srgbClr val="23262E"/>
                </a:solidFill>
                <a:latin typeface="Meiryo"/>
                <a:ea typeface="Meiryo"/>
              </a:rPr>
              <a:t xml:space="preserve">学習パラメータを設定</a:t>
            </a:r>
          </a:p>
        </p:txBody>
      </p:sp>
      <p:sp>
        <p:nvSpPr>
          <p:cNvPr id="10" name="TextBox 9"/>
          <p:cNvSpPr txBox="1"/>
          <p:nvPr/>
        </p:nvSpPr>
        <p:spPr>
          <a:xfrm>
            <a:off x="1078992" y="2441448"/>
            <a:ext cx="6236208" cy="310896"/>
          </a:xfrm>
          <a:prstGeom prst="rect">
            <a:avLst/>
          </a:prstGeom>
          <a:noFill/>
        </p:spPr>
        <p:txBody>
          <a:bodyPr wrap="square" lIns="0" rIns="0" tIns="0" bIns="0" anchor="t">
            <a:spAutoFit/>
          </a:bodyPr>
          <a:lstStyle/>
          <a:p>
            <a:r>
              <a:rPr sz="1150" b="0">
                <a:solidFill>
                  <a:srgbClr val="5A6272"/>
                </a:solidFill>
                <a:latin typeface="Meiryo"/>
                <a:ea typeface="Meiryo"/>
              </a:rPr>
              <a:t xml:space="preserve">まずは初期値でOK。主な項目は右の表を参照</a:t>
            </a:r>
          </a:p>
        </p:txBody>
      </p:sp>
      <p:sp>
        <p:nvSpPr>
          <p:cNvPr id="11" name="Oval 10"/>
          <p:cNvSpPr/>
          <p:nvPr/>
        </p:nvSpPr>
        <p:spPr>
          <a:xfrm>
            <a:off x="548640" y="2944368"/>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944368"/>
            <a:ext cx="384048" cy="384048"/>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3</a:t>
            </a:r>
          </a:p>
        </p:txBody>
      </p:sp>
      <p:sp>
        <p:nvSpPr>
          <p:cNvPr id="13" name="TextBox 12"/>
          <p:cNvSpPr txBox="1"/>
          <p:nvPr/>
        </p:nvSpPr>
        <p:spPr>
          <a:xfrm>
            <a:off x="1078992" y="2926080"/>
            <a:ext cx="6236208" cy="292608"/>
          </a:xfrm>
          <a:prstGeom prst="rect">
            <a:avLst/>
          </a:prstGeom>
          <a:noFill/>
        </p:spPr>
        <p:txBody>
          <a:bodyPr wrap="square" lIns="0" rIns="0" tIns="0" bIns="0" anchor="t">
            <a:spAutoFit/>
          </a:bodyPr>
          <a:lstStyle/>
          <a:p>
            <a:r>
              <a:rPr sz="1400" b="1">
                <a:solidFill>
                  <a:srgbClr val="23262E"/>
                </a:solidFill>
                <a:latin typeface="Meiryo"/>
                <a:ea typeface="Meiryo"/>
              </a:rPr>
              <a:t xml:space="preserve">「学習開始」ボタンを押す</a:t>
            </a:r>
          </a:p>
        </p:txBody>
      </p:sp>
      <p:sp>
        <p:nvSpPr>
          <p:cNvPr id="14" name="TextBox 13"/>
          <p:cNvSpPr txBox="1"/>
          <p:nvPr/>
        </p:nvSpPr>
        <p:spPr>
          <a:xfrm>
            <a:off x="1078992" y="3218688"/>
            <a:ext cx="6236208" cy="457200"/>
          </a:xfrm>
          <a:prstGeom prst="rect">
            <a:avLst/>
          </a:prstGeom>
          <a:noFill/>
        </p:spPr>
        <p:txBody>
          <a:bodyPr wrap="square" lIns="0" rIns="0" tIns="0" bIns="0" anchor="t">
            <a:spAutoFit/>
          </a:bodyPr>
          <a:lstStyle/>
          <a:p>
            <a:r>
              <a:rPr sz="1150" b="0">
                <a:solidFill>
                  <a:srgbClr val="5A6272"/>
                </a:solidFill>
                <a:latin typeface="Meiryo"/>
                <a:ea typeface="Meiryo"/>
              </a:rPr>
              <a:t xml:space="preserve">進捗とloss（誤差）のグラフが表示されます。lossが下がっていけば順調</a:t>
            </a:r>
          </a:p>
        </p:txBody>
      </p:sp>
      <p:sp>
        <p:nvSpPr>
          <p:cNvPr id="15" name="Oval 14"/>
          <p:cNvSpPr/>
          <p:nvPr/>
        </p:nvSpPr>
        <p:spPr>
          <a:xfrm>
            <a:off x="548640" y="3858768"/>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858768"/>
            <a:ext cx="384048" cy="384048"/>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4</a:t>
            </a:r>
          </a:p>
        </p:txBody>
      </p:sp>
      <p:sp>
        <p:nvSpPr>
          <p:cNvPr id="17" name="TextBox 16"/>
          <p:cNvSpPr txBox="1"/>
          <p:nvPr/>
        </p:nvSpPr>
        <p:spPr>
          <a:xfrm>
            <a:off x="1078992" y="3840480"/>
            <a:ext cx="6236208" cy="292608"/>
          </a:xfrm>
          <a:prstGeom prst="rect">
            <a:avLst/>
          </a:prstGeom>
          <a:noFill/>
        </p:spPr>
        <p:txBody>
          <a:bodyPr wrap="square" lIns="0" rIns="0" tIns="0" bIns="0" anchor="t">
            <a:spAutoFit/>
          </a:bodyPr>
          <a:lstStyle/>
          <a:p>
            <a:r>
              <a:rPr sz="1400" b="1">
                <a:solidFill>
                  <a:srgbClr val="23262E"/>
                </a:solidFill>
                <a:latin typeface="Meiryo"/>
                <a:ea typeface="Meiryo"/>
              </a:rPr>
              <a:t xml:space="preserve">完了を待つ</a:t>
            </a:r>
          </a:p>
        </p:txBody>
      </p:sp>
      <p:sp>
        <p:nvSpPr>
          <p:cNvPr id="18" name="TextBox 17"/>
          <p:cNvSpPr txBox="1"/>
          <p:nvPr/>
        </p:nvSpPr>
        <p:spPr>
          <a:xfrm>
            <a:off x="1078992" y="4133088"/>
            <a:ext cx="6236208" cy="457200"/>
          </a:xfrm>
          <a:prstGeom prst="rect">
            <a:avLst/>
          </a:prstGeom>
          <a:noFill/>
        </p:spPr>
        <p:txBody>
          <a:bodyPr wrap="square" lIns="0" rIns="0" tIns="0" bIns="0" anchor="t">
            <a:spAutoFit/>
          </a:bodyPr>
          <a:lstStyle/>
          <a:p>
            <a:r>
              <a:rPr sz="1150" b="0">
                <a:solidFill>
                  <a:srgbClr val="5A6272"/>
                </a:solidFill>
                <a:latin typeface="Meiryo"/>
                <a:ea typeface="Meiryo"/>
              </a:rPr>
              <a:t xml:space="preserve">数十分〜数時間。モデルはプロジェクト内の models フォルダに保存されます</a:t>
            </a:r>
          </a:p>
        </p:txBody>
      </p:sp>
      <p:graphicFrame>
        <p:nvGraphicFramePr>
          <p:cNvPr id="19" name="Table 18"/>
          <p:cNvGraphicFramePr>
            <a:graphicFrameLocks noGrp="1"/>
          </p:cNvGraphicFramePr>
          <p:nvPr/>
        </p:nvGraphicFramePr>
        <p:xfrm>
          <a:off x="7680960" y="1463040"/>
          <a:ext cx="3931920" cy="2514600"/>
        </p:xfrm>
        <a:graphic>
          <a:graphicData uri="http://schemas.openxmlformats.org/drawingml/2006/table">
            <a:tbl firstRow="0" bandRow="0">
              <a:tblPr firstRow="1" bandRow="1">
                <a:tableStyleId>{5C22544A-7EE6-4342-B048-85BDC9FD1C3A}</a:tableStyleId>
              </a:tblPr>
              <a:tblGrid>
                <a:gridCol w="1325880"/>
                <a:gridCol w="1600200"/>
                <a:gridCol w="1005840"/>
              </a:tblGrid>
              <a:tr h="502920">
                <a:tc>
                  <a:txBody>
                    <a:bodyPr wrap="square"/>
                    <a:lstStyle/>
                    <a:p>
                      <a:r>
                        <a:rPr sz="1050" b="1">
                          <a:solidFill>
                            <a:srgbClr val="FFFFFF"/>
                          </a:solidFill>
                          <a:latin typeface="Meiryo"/>
                          <a:ea typeface="Meiryo"/>
                        </a:rPr>
                        <a:t xml:space="preserve">パラメータ</a:t>
                      </a:r>
                    </a:p>
                  </a:txBody>
                  <a:tcPr marL="73152" marR="73152" marT="27432" marB="27432" anchor="ctr">
                    <a:solidFill>
                      <a:srgbClr val="1E2761"/>
                    </a:solidFill>
                  </a:tcPr>
                </a:tc>
                <a:tc>
                  <a:txBody>
                    <a:bodyPr wrap="square"/>
                    <a:lstStyle/>
                    <a:p>
                      <a:r>
                        <a:rPr sz="1050" b="1">
                          <a:solidFill>
                            <a:srgbClr val="FFFFFF"/>
                          </a:solidFill>
                          <a:latin typeface="Meiryo"/>
                          <a:ea typeface="Meiryo"/>
                        </a:rPr>
                        <a:t xml:space="preserve">意味</a:t>
                      </a:r>
                    </a:p>
                  </a:txBody>
                  <a:tcPr marL="73152" marR="73152" marT="27432" marB="27432" anchor="ctr">
                    <a:solidFill>
                      <a:srgbClr val="1E2761"/>
                    </a:solidFill>
                  </a:tcPr>
                </a:tc>
                <a:tc>
                  <a:txBody>
                    <a:bodyPr wrap="square"/>
                    <a:lstStyle/>
                    <a:p>
                      <a:r>
                        <a:rPr sz="1050" b="1">
                          <a:solidFill>
                            <a:srgbClr val="FFFFFF"/>
                          </a:solidFill>
                          <a:latin typeface="Meiryo"/>
                          <a:ea typeface="Meiryo"/>
                        </a:rPr>
                        <a:t xml:space="preserve">目安</a:t>
                      </a:r>
                    </a:p>
                  </a:txBody>
                  <a:tcPr marL="73152" marR="73152" marT="27432" marB="27432" anchor="ctr">
                    <a:solidFill>
                      <a:srgbClr val="1E2761"/>
                    </a:solidFill>
                  </a:tcPr>
                </a:tc>
              </a:tr>
              <a:tr h="502920">
                <a:tc>
                  <a:txBody>
                    <a:bodyPr wrap="square"/>
                    <a:lstStyle/>
                    <a:p>
                      <a:r>
                        <a:rPr sz="950" b="0">
                          <a:solidFill>
                            <a:srgbClr val="23262E"/>
                          </a:solidFill>
                          <a:latin typeface="Meiryo"/>
                          <a:ea typeface="Meiryo"/>
                        </a:rPr>
                        <a:t xml:space="preserve">epochs</a:t>
                      </a:r>
                    </a:p>
                  </a:txBody>
                  <a:tcPr marL="73152" marR="73152" marT="27432" marB="27432" anchor="ctr">
                    <a:solidFill>
                      <a:srgbClr val="FFFFFF"/>
                    </a:solidFill>
                  </a:tcPr>
                </a:tc>
                <a:tc>
                  <a:txBody>
                    <a:bodyPr wrap="square"/>
                    <a:lstStyle/>
                    <a:p>
                      <a:r>
                        <a:rPr sz="950" b="0">
                          <a:solidFill>
                            <a:srgbClr val="23262E"/>
                          </a:solidFill>
                          <a:latin typeface="Meiryo"/>
                          <a:ea typeface="Meiryo"/>
                        </a:rPr>
                        <a:t xml:space="preserve">学習の繰り返し回数</a:t>
                      </a:r>
                    </a:p>
                  </a:txBody>
                  <a:tcPr marL="73152" marR="73152" marT="27432" marB="27432" anchor="ctr">
                    <a:solidFill>
                      <a:srgbClr val="FFFFFF"/>
                    </a:solidFill>
                  </a:tcPr>
                </a:tc>
                <a:tc>
                  <a:txBody>
                    <a:bodyPr wrap="square"/>
                    <a:lstStyle/>
                    <a:p>
                      <a:r>
                        <a:rPr sz="950" b="0">
                          <a:solidFill>
                            <a:srgbClr val="23262E"/>
                          </a:solidFill>
                          <a:latin typeface="Meiryo"/>
                          <a:ea typeface="Meiryo"/>
                        </a:rPr>
                        <a:t xml:space="preserve">50〜100</a:t>
                      </a:r>
                    </a:p>
                  </a:txBody>
                  <a:tcPr marL="73152" marR="73152" marT="27432" marB="27432" anchor="ctr">
                    <a:solidFill>
                      <a:srgbClr val="FFFFFF"/>
                    </a:solidFill>
                  </a:tcPr>
                </a:tc>
              </a:tr>
              <a:tr h="502920">
                <a:tc>
                  <a:txBody>
                    <a:bodyPr wrap="square"/>
                    <a:lstStyle/>
                    <a:p>
                      <a:r>
                        <a:rPr sz="950" b="0">
                          <a:solidFill>
                            <a:srgbClr val="23262E"/>
                          </a:solidFill>
                          <a:latin typeface="Meiryo"/>
                          <a:ea typeface="Meiryo"/>
                        </a:rPr>
                        <a:t xml:space="preserve">batch_size</a:t>
                      </a:r>
                    </a:p>
                  </a:txBody>
                  <a:tcPr marL="73152" marR="73152" marT="27432" marB="27432" anchor="ctr">
                    <a:solidFill>
                      <a:srgbClr val="F4F7FC"/>
                    </a:solidFill>
                  </a:tcPr>
                </a:tc>
                <a:tc>
                  <a:txBody>
                    <a:bodyPr wrap="square"/>
                    <a:lstStyle/>
                    <a:p>
                      <a:r>
                        <a:rPr sz="950" b="0">
                          <a:solidFill>
                            <a:srgbClr val="23262E"/>
                          </a:solidFill>
                          <a:latin typeface="Meiryo"/>
                          <a:ea typeface="Meiryo"/>
                        </a:rPr>
                        <a:t xml:space="preserve">一度に処理する枚数</a:t>
                      </a:r>
                    </a:p>
                  </a:txBody>
                  <a:tcPr marL="73152" marR="73152" marT="27432" marB="27432" anchor="ctr">
                    <a:solidFill>
                      <a:srgbClr val="F4F7FC"/>
                    </a:solidFill>
                  </a:tcPr>
                </a:tc>
                <a:tc>
                  <a:txBody>
                    <a:bodyPr wrap="square"/>
                    <a:lstStyle/>
                    <a:p>
                      <a:r>
                        <a:rPr sz="950" b="0">
                          <a:solidFill>
                            <a:srgbClr val="23262E"/>
                          </a:solidFill>
                          <a:latin typeface="Meiryo"/>
                          <a:ea typeface="Meiryo"/>
                        </a:rPr>
                        <a:t xml:space="preserve">4〜16</a:t>
                      </a:r>
                    </a:p>
                  </a:txBody>
                  <a:tcPr marL="73152" marR="73152" marT="27432" marB="27432" anchor="ctr">
                    <a:solidFill>
                      <a:srgbClr val="F4F7FC"/>
                    </a:solidFill>
                  </a:tcPr>
                </a:tc>
              </a:tr>
              <a:tr h="502920">
                <a:tc>
                  <a:txBody>
                    <a:bodyPr wrap="square"/>
                    <a:lstStyle/>
                    <a:p>
                      <a:r>
                        <a:rPr sz="950" b="0">
                          <a:solidFill>
                            <a:srgbClr val="23262E"/>
                          </a:solidFill>
                          <a:latin typeface="Meiryo"/>
                          <a:ea typeface="Meiryo"/>
                        </a:rPr>
                        <a:t xml:space="preserve">resolution</a:t>
                      </a:r>
                    </a:p>
                  </a:txBody>
                  <a:tcPr marL="73152" marR="73152" marT="27432" marB="27432" anchor="ctr">
                    <a:solidFill>
                      <a:srgbClr val="FFFFFF"/>
                    </a:solidFill>
                  </a:tcPr>
                </a:tc>
                <a:tc>
                  <a:txBody>
                    <a:bodyPr wrap="square"/>
                    <a:lstStyle/>
                    <a:p>
                      <a:r>
                        <a:rPr sz="950" b="0">
                          <a:solidFill>
                            <a:srgbClr val="23262E"/>
                          </a:solidFill>
                          <a:latin typeface="Meiryo"/>
                          <a:ea typeface="Meiryo"/>
                        </a:rPr>
                        <a:t xml:space="preserve">画像サイズ</a:t>
                      </a:r>
                    </a:p>
                  </a:txBody>
                  <a:tcPr marL="73152" marR="73152" marT="27432" marB="27432" anchor="ctr">
                    <a:solidFill>
                      <a:srgbClr val="FFFFFF"/>
                    </a:solidFill>
                  </a:tcPr>
                </a:tc>
                <a:tc>
                  <a:txBody>
                    <a:bodyPr wrap="square"/>
                    <a:lstStyle/>
                    <a:p>
                      <a:r>
                        <a:rPr sz="950" b="0">
                          <a:solidFill>
                            <a:srgbClr val="23262E"/>
                          </a:solidFill>
                          <a:latin typeface="Meiryo"/>
                          <a:ea typeface="Meiryo"/>
                        </a:rPr>
                        <a:t xml:space="preserve">640</a:t>
                      </a:r>
                    </a:p>
                  </a:txBody>
                  <a:tcPr marL="73152" marR="73152" marT="27432" marB="27432" anchor="ctr">
                    <a:solidFill>
                      <a:srgbClr val="FFFFFF"/>
                    </a:solidFill>
                  </a:tcPr>
                </a:tc>
              </a:tr>
              <a:tr h="502920">
                <a:tc>
                  <a:txBody>
                    <a:bodyPr wrap="square"/>
                    <a:lstStyle/>
                    <a:p>
                      <a:r>
                        <a:rPr sz="950" b="0">
                          <a:solidFill>
                            <a:srgbClr val="23262E"/>
                          </a:solidFill>
                          <a:latin typeface="Meiryo"/>
                          <a:ea typeface="Meiryo"/>
                        </a:rPr>
                        <a:t xml:space="preserve">early_stopping</a:t>
                      </a:r>
                    </a:p>
                  </a:txBody>
                  <a:tcPr marL="73152" marR="73152" marT="27432" marB="27432" anchor="ctr">
                    <a:solidFill>
                      <a:srgbClr val="F4F7FC"/>
                    </a:solidFill>
                  </a:tcPr>
                </a:tc>
                <a:tc>
                  <a:txBody>
                    <a:bodyPr wrap="square"/>
                    <a:lstStyle/>
                    <a:p>
                      <a:r>
                        <a:rPr sz="950" b="0">
                          <a:solidFill>
                            <a:srgbClr val="23262E"/>
                          </a:solidFill>
                          <a:latin typeface="Meiryo"/>
                          <a:ea typeface="Meiryo"/>
                        </a:rPr>
                        <a:t xml:space="preserve">改善が止まったら自動終了</a:t>
                      </a:r>
                    </a:p>
                  </a:txBody>
                  <a:tcPr marL="73152" marR="73152" marT="27432" marB="27432" anchor="ctr">
                    <a:solidFill>
                      <a:srgbClr val="F4F7FC"/>
                    </a:solidFill>
                  </a:tcPr>
                </a:tc>
                <a:tc>
                  <a:txBody>
                    <a:bodyPr wrap="square"/>
                    <a:lstStyle/>
                    <a:p>
                      <a:r>
                        <a:rPr sz="950" b="0">
                          <a:solidFill>
                            <a:srgbClr val="23262E"/>
                          </a:solidFill>
                          <a:latin typeface="Meiryo"/>
                          <a:ea typeface="Meiryo"/>
                        </a:rPr>
                        <a:t xml:space="preserve">有効を推奨</a:t>
                      </a:r>
                    </a:p>
                  </a:txBody>
                  <a:tcPr marL="73152" marR="73152" marT="27432" marB="27432" anchor="ctr">
                    <a:solidFill>
                      <a:srgbClr val="F4F7FC"/>
                    </a:solidFill>
                  </a:tcPr>
                </a:tc>
              </a:tr>
            </a:tbl>
          </a:graphicData>
        </a:graphic>
      </p:graphicFrame>
      <p:sp>
        <p:nvSpPr>
          <p:cNvPr id="20" name="Rounded Rectangle 19"/>
          <p:cNvSpPr/>
          <p:nvPr/>
        </p:nvSpPr>
        <p:spPr>
          <a:xfrm>
            <a:off x="7680960" y="4206240"/>
            <a:ext cx="3931920" cy="1371600"/>
          </a:xfrm>
          <a:prstGeom prst="roundRect">
            <a:avLst>
              <a:gd name="adj" fmla="val 12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82128" y="4334255"/>
            <a:ext cx="3529584" cy="274320"/>
          </a:xfrm>
          <a:prstGeom prst="rect">
            <a:avLst/>
          </a:prstGeom>
          <a:noFill/>
        </p:spPr>
        <p:txBody>
          <a:bodyPr wrap="square" lIns="0" rIns="0" tIns="0" bIns="0" anchor="t">
            <a:spAutoFit/>
          </a:bodyPr>
          <a:lstStyle/>
          <a:p>
            <a:r>
              <a:rPr sz="1300" b="1">
                <a:solidFill>
                  <a:srgbClr val="1E2761"/>
                </a:solidFill>
                <a:latin typeface="Meiryo"/>
                <a:ea typeface="Meiryo"/>
              </a:rPr>
              <a:t xml:space="preserve">メモリ不足で止まったら</a:t>
            </a:r>
          </a:p>
        </p:txBody>
      </p:sp>
      <p:sp>
        <p:nvSpPr>
          <p:cNvPr id="22" name="TextBox 21"/>
          <p:cNvSpPr txBox="1"/>
          <p:nvPr/>
        </p:nvSpPr>
        <p:spPr>
          <a:xfrm>
            <a:off x="7882128" y="4645152"/>
            <a:ext cx="3529584" cy="822960"/>
          </a:xfrm>
          <a:prstGeom prst="rect">
            <a:avLst/>
          </a:prstGeom>
          <a:noFill/>
        </p:spPr>
        <p:txBody>
          <a:bodyPr wrap="square" lIns="0" rIns="0" tIns="0" bIns="0" anchor="t">
            <a:spAutoFit/>
          </a:bodyPr>
          <a:lstStyle/>
          <a:p>
            <a:r>
              <a:rPr sz="1100" b="0">
                <a:solidFill>
                  <a:srgbClr val="23262E"/>
                </a:solidFill>
                <a:latin typeface="Meiryo"/>
                <a:ea typeface="Meiryo"/>
              </a:rPr>
              <a:t xml:space="preserve">batch_size を小さくして再実行してください。詳細設定はTRAINING_CONF.md参照。</a:t>
            </a:r>
          </a:p>
        </p:txBody>
      </p:sp>
      <p:sp>
        <p:nvSpPr>
          <p:cNvPr id="23" name="TextBox 22"/>
          <p:cNvSpPr txBox="1"/>
          <p:nvPr/>
        </p:nvSpPr>
        <p:spPr>
          <a:xfrm>
            <a:off x="11292840" y="6473952"/>
            <a:ext cx="640080" cy="274320"/>
          </a:xfrm>
          <a:prstGeom prst="rect">
            <a:avLst/>
          </a:prstGeom>
          <a:noFill/>
        </p:spPr>
        <p:txBody>
          <a:bodyPr wrap="square" lIns="0" rIns="0" tIns="0" bIns="0" anchor="t">
            <a:spAutoFit/>
          </a:bodyPr>
          <a:lstStyle/>
          <a:p>
            <a:pPr algn="r"/>
            <a:r>
              <a:rPr sz="1000" b="0">
                <a:solidFill>
                  <a:srgbClr val="5A6272"/>
                </a:solidFill>
                <a:latin typeface="Meiryo"/>
                <a:ea typeface="Meiryo"/>
              </a:rPr>
              <a:t xml:space="preserve">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64240" cy="292608"/>
          </a:xfrm>
          <a:prstGeom prst="rect">
            <a:avLst/>
          </a:prstGeom>
          <a:noFill/>
        </p:spPr>
        <p:txBody>
          <a:bodyPr wrap="square" lIns="0" rIns="0" tIns="0" bIns="0" anchor="t">
            <a:spAutoFit/>
          </a:bodyPr>
          <a:lstStyle/>
          <a:p>
            <a:r>
              <a:rPr sz="1200" b="1">
                <a:solidFill>
                  <a:srgbClr val="3A4A8C"/>
                </a:solidFill>
                <a:latin typeface="Meiryo"/>
                <a:ea typeface="Meiryo"/>
              </a:rPr>
              <a:t xml:space="preserve">STEP 5（1/2）</a:t>
            </a:r>
          </a:p>
        </p:txBody>
      </p:sp>
      <p:sp>
        <p:nvSpPr>
          <p:cNvPr id="3" name="TextBox 2"/>
          <p:cNvSpPr txBox="1"/>
          <p:nvPr/>
        </p:nvSpPr>
        <p:spPr>
          <a:xfrm>
            <a:off x="548640" y="566928"/>
            <a:ext cx="11064240" cy="603504"/>
          </a:xfrm>
          <a:prstGeom prst="rect">
            <a:avLst/>
          </a:prstGeom>
          <a:noFill/>
        </p:spPr>
        <p:txBody>
          <a:bodyPr wrap="square" lIns="0" rIns="0" tIns="0" bIns="0" anchor="t">
            <a:spAutoFit/>
          </a:bodyPr>
          <a:lstStyle/>
          <a:p>
            <a:r>
              <a:rPr sz="2600" b="1">
                <a:solidFill>
                  <a:srgbClr val="23262E"/>
                </a:solidFill>
                <a:latin typeface="Meiryo"/>
                <a:ea typeface="Meiryo"/>
              </a:rPr>
              <a:t xml:space="preserve">7. 員数チェック ― 手動検査</a:t>
            </a:r>
          </a:p>
        </p:txBody>
      </p:sp>
      <p:sp>
        <p:nvSpPr>
          <p:cNvPr id="4" name="TextBox 3"/>
          <p:cNvSpPr txBox="1"/>
          <p:nvPr/>
        </p:nvSpPr>
        <p:spPr>
          <a:xfrm>
            <a:off x="548640" y="1325880"/>
            <a:ext cx="5486400" cy="320040"/>
          </a:xfrm>
          <a:prstGeom prst="rect">
            <a:avLst/>
          </a:prstGeom>
          <a:noFill/>
        </p:spPr>
        <p:txBody>
          <a:bodyPr wrap="square" lIns="0" rIns="0" tIns="0" bIns="0" anchor="t">
            <a:spAutoFit/>
          </a:bodyPr>
          <a:lstStyle/>
          <a:p>
            <a:r>
              <a:rPr sz="1500" b="1">
                <a:solidFill>
                  <a:srgbClr val="1E2761"/>
                </a:solidFill>
                <a:latin typeface="Meiryo"/>
                <a:ea typeface="Meiryo"/>
              </a:rPr>
              <a:t xml:space="preserve">検査の準備</a:t>
            </a:r>
          </a:p>
        </p:txBody>
      </p:sp>
      <p:sp>
        <p:nvSpPr>
          <p:cNvPr id="5" name="Oval 4"/>
          <p:cNvSpPr/>
          <p:nvPr/>
        </p:nvSpPr>
        <p:spPr>
          <a:xfrm>
            <a:off x="548640" y="1755648"/>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755648"/>
            <a:ext cx="384048" cy="384048"/>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1</a:t>
            </a:r>
          </a:p>
        </p:txBody>
      </p:sp>
      <p:sp>
        <p:nvSpPr>
          <p:cNvPr id="7" name="TextBox 6"/>
          <p:cNvSpPr txBox="1"/>
          <p:nvPr/>
        </p:nvSpPr>
        <p:spPr>
          <a:xfrm>
            <a:off x="1078992" y="1737360"/>
            <a:ext cx="4864608" cy="292608"/>
          </a:xfrm>
          <a:prstGeom prst="rect">
            <a:avLst/>
          </a:prstGeom>
          <a:noFill/>
        </p:spPr>
        <p:txBody>
          <a:bodyPr wrap="square" lIns="0" rIns="0" tIns="0" bIns="0" anchor="t">
            <a:spAutoFit/>
          </a:bodyPr>
          <a:lstStyle/>
          <a:p>
            <a:r>
              <a:rPr sz="1400" b="1">
                <a:solidFill>
                  <a:srgbClr val="23262E"/>
                </a:solidFill>
                <a:latin typeface="Meiryo"/>
                <a:ea typeface="Meiryo"/>
              </a:rPr>
              <a:t xml:space="preserve">「推論」画面を開く</a:t>
            </a:r>
          </a:p>
        </p:txBody>
      </p:sp>
      <p:sp>
        <p:nvSpPr>
          <p:cNvPr id="8" name="Oval 7"/>
          <p:cNvSpPr/>
          <p:nvPr/>
        </p:nvSpPr>
        <p:spPr>
          <a:xfrm>
            <a:off x="548640" y="2441448"/>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441448"/>
            <a:ext cx="384048" cy="384048"/>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2</a:t>
            </a:r>
          </a:p>
        </p:txBody>
      </p:sp>
      <p:sp>
        <p:nvSpPr>
          <p:cNvPr id="10" name="TextBox 9"/>
          <p:cNvSpPr txBox="1"/>
          <p:nvPr/>
        </p:nvSpPr>
        <p:spPr>
          <a:xfrm>
            <a:off x="1078992" y="2423160"/>
            <a:ext cx="4864608" cy="292608"/>
          </a:xfrm>
          <a:prstGeom prst="rect">
            <a:avLst/>
          </a:prstGeom>
          <a:noFill/>
        </p:spPr>
        <p:txBody>
          <a:bodyPr wrap="square" lIns="0" rIns="0" tIns="0" bIns="0" anchor="t">
            <a:spAutoFit/>
          </a:bodyPr>
          <a:lstStyle/>
          <a:p>
            <a:r>
              <a:rPr sz="1400" b="1">
                <a:solidFill>
                  <a:srgbClr val="23262E"/>
                </a:solidFill>
                <a:latin typeface="Meiryo"/>
                <a:ea typeface="Meiryo"/>
              </a:rPr>
              <a:t xml:space="preserve">プロジェクトと学習済みモデルを選択</a:t>
            </a:r>
          </a:p>
        </p:txBody>
      </p:sp>
      <p:sp>
        <p:nvSpPr>
          <p:cNvPr id="11" name="TextBox 10"/>
          <p:cNvSpPr txBox="1"/>
          <p:nvPr/>
        </p:nvSpPr>
        <p:spPr>
          <a:xfrm>
            <a:off x="1078992" y="2715768"/>
            <a:ext cx="4864608" cy="310896"/>
          </a:xfrm>
          <a:prstGeom prst="rect">
            <a:avLst/>
          </a:prstGeom>
          <a:noFill/>
        </p:spPr>
        <p:txBody>
          <a:bodyPr wrap="square" lIns="0" rIns="0" tIns="0" bIns="0" anchor="t">
            <a:spAutoFit/>
          </a:bodyPr>
          <a:lstStyle/>
          <a:p>
            <a:r>
              <a:rPr sz="1150" b="0">
                <a:solidFill>
                  <a:srgbClr val="5A6272"/>
                </a:solidFill>
                <a:latin typeface="Meiryo"/>
                <a:ea typeface="Meiryo"/>
              </a:rPr>
              <a:t xml:space="preserve">設定ファイル・重みファイルを選ぶ</a:t>
            </a:r>
          </a:p>
        </p:txBody>
      </p:sp>
      <p:sp>
        <p:nvSpPr>
          <p:cNvPr id="12" name="Oval 11"/>
          <p:cNvSpPr/>
          <p:nvPr/>
        </p:nvSpPr>
        <p:spPr>
          <a:xfrm>
            <a:off x="548640" y="3218688"/>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218688"/>
            <a:ext cx="384048" cy="384048"/>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3</a:t>
            </a:r>
          </a:p>
        </p:txBody>
      </p:sp>
      <p:sp>
        <p:nvSpPr>
          <p:cNvPr id="14" name="TextBox 13"/>
          <p:cNvSpPr txBox="1"/>
          <p:nvPr/>
        </p:nvSpPr>
        <p:spPr>
          <a:xfrm>
            <a:off x="1078992" y="3200400"/>
            <a:ext cx="4864608" cy="292608"/>
          </a:xfrm>
          <a:prstGeom prst="rect">
            <a:avLst/>
          </a:prstGeom>
          <a:noFill/>
        </p:spPr>
        <p:txBody>
          <a:bodyPr wrap="square" lIns="0" rIns="0" tIns="0" bIns="0" anchor="t">
            <a:spAutoFit/>
          </a:bodyPr>
          <a:lstStyle/>
          <a:p>
            <a:r>
              <a:rPr sz="1400" b="1">
                <a:solidFill>
                  <a:srgbClr val="23262E"/>
                </a:solidFill>
                <a:latin typeface="Meiryo"/>
                <a:ea typeface="Meiryo"/>
              </a:rPr>
              <a:t xml:space="preserve">カメラ映像が表示されることを確認</a:t>
            </a:r>
          </a:p>
        </p:txBody>
      </p:sp>
      <p:sp>
        <p:nvSpPr>
          <p:cNvPr id="15" name="TextBox 14"/>
          <p:cNvSpPr txBox="1"/>
          <p:nvPr/>
        </p:nvSpPr>
        <p:spPr>
          <a:xfrm>
            <a:off x="6309360" y="1325880"/>
            <a:ext cx="5486400" cy="320040"/>
          </a:xfrm>
          <a:prstGeom prst="rect">
            <a:avLst/>
          </a:prstGeom>
          <a:noFill/>
        </p:spPr>
        <p:txBody>
          <a:bodyPr wrap="square" lIns="0" rIns="0" tIns="0" bIns="0" anchor="t">
            <a:spAutoFit/>
          </a:bodyPr>
          <a:lstStyle/>
          <a:p>
            <a:r>
              <a:rPr sz="1500" b="1">
                <a:solidFill>
                  <a:srgbClr val="1E2761"/>
                </a:solidFill>
                <a:latin typeface="Meiryo"/>
                <a:ea typeface="Meiryo"/>
              </a:rPr>
              <a:t xml:space="preserve">検査の実行</a:t>
            </a:r>
          </a:p>
        </p:txBody>
      </p:sp>
      <p:sp>
        <p:nvSpPr>
          <p:cNvPr id="16" name="Oval 15"/>
          <p:cNvSpPr/>
          <p:nvPr/>
        </p:nvSpPr>
        <p:spPr>
          <a:xfrm>
            <a:off x="6309360" y="1755648"/>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1755648"/>
            <a:ext cx="384048" cy="384048"/>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4</a:t>
            </a:r>
          </a:p>
        </p:txBody>
      </p:sp>
      <p:sp>
        <p:nvSpPr>
          <p:cNvPr id="18" name="TextBox 17"/>
          <p:cNvSpPr txBox="1"/>
          <p:nvPr/>
        </p:nvSpPr>
        <p:spPr>
          <a:xfrm>
            <a:off x="6839712" y="1737360"/>
            <a:ext cx="4773168" cy="292608"/>
          </a:xfrm>
          <a:prstGeom prst="rect">
            <a:avLst/>
          </a:prstGeom>
          <a:noFill/>
        </p:spPr>
        <p:txBody>
          <a:bodyPr wrap="square" lIns="0" rIns="0" tIns="0" bIns="0" anchor="t">
            <a:spAutoFit/>
          </a:bodyPr>
          <a:lstStyle/>
          <a:p>
            <a:r>
              <a:rPr sz="1400" b="1">
                <a:solidFill>
                  <a:srgbClr val="23262E"/>
                </a:solidFill>
                <a:latin typeface="Meiryo"/>
                <a:ea typeface="Meiryo"/>
              </a:rPr>
              <a:t xml:space="preserve">部品を入れた箱をカメラの下に置く</a:t>
            </a:r>
          </a:p>
        </p:txBody>
      </p:sp>
      <p:sp>
        <p:nvSpPr>
          <p:cNvPr id="19" name="Oval 18"/>
          <p:cNvSpPr/>
          <p:nvPr/>
        </p:nvSpPr>
        <p:spPr>
          <a:xfrm>
            <a:off x="6309360" y="2441448"/>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41448"/>
            <a:ext cx="384048" cy="384048"/>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5</a:t>
            </a:r>
          </a:p>
        </p:txBody>
      </p:sp>
      <p:sp>
        <p:nvSpPr>
          <p:cNvPr id="21" name="TextBox 20"/>
          <p:cNvSpPr txBox="1"/>
          <p:nvPr/>
        </p:nvSpPr>
        <p:spPr>
          <a:xfrm>
            <a:off x="6839712" y="2423160"/>
            <a:ext cx="4773168" cy="292608"/>
          </a:xfrm>
          <a:prstGeom prst="rect">
            <a:avLst/>
          </a:prstGeom>
          <a:noFill/>
        </p:spPr>
        <p:txBody>
          <a:bodyPr wrap="square" lIns="0" rIns="0" tIns="0" bIns="0" anchor="t">
            <a:spAutoFit/>
          </a:bodyPr>
          <a:lstStyle/>
          <a:p>
            <a:r>
              <a:rPr sz="1400" b="1">
                <a:solidFill>
                  <a:srgbClr val="23262E"/>
                </a:solidFill>
                <a:latin typeface="Meiryo"/>
                <a:ea typeface="Meiryo"/>
              </a:rPr>
              <a:t xml:space="preserve">撮影ボタンを押す</a:t>
            </a:r>
          </a:p>
        </p:txBody>
      </p:sp>
      <p:sp>
        <p:nvSpPr>
          <p:cNvPr id="22" name="TextBox 21"/>
          <p:cNvSpPr txBox="1"/>
          <p:nvPr/>
        </p:nvSpPr>
        <p:spPr>
          <a:xfrm>
            <a:off x="6839712" y="2715768"/>
            <a:ext cx="4773168" cy="310896"/>
          </a:xfrm>
          <a:prstGeom prst="rect">
            <a:avLst/>
          </a:prstGeom>
          <a:noFill/>
        </p:spPr>
        <p:txBody>
          <a:bodyPr wrap="square" lIns="0" rIns="0" tIns="0" bIns="0" anchor="t">
            <a:spAutoFit/>
          </a:bodyPr>
          <a:lstStyle/>
          <a:p>
            <a:r>
              <a:rPr sz="1150" b="0">
                <a:solidFill>
                  <a:srgbClr val="5A6272"/>
                </a:solidFill>
                <a:latin typeface="Meiryo"/>
                <a:ea typeface="Meiryo"/>
              </a:rPr>
              <a:t xml:space="preserve">AIが部品を検出し、種類ごとの個数を数えます</a:t>
            </a:r>
          </a:p>
        </p:txBody>
      </p:sp>
      <p:sp>
        <p:nvSpPr>
          <p:cNvPr id="23" name="Oval 22"/>
          <p:cNvSpPr/>
          <p:nvPr/>
        </p:nvSpPr>
        <p:spPr>
          <a:xfrm>
            <a:off x="6309360" y="3218688"/>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0" y="3218688"/>
            <a:ext cx="384048" cy="384048"/>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6</a:t>
            </a:r>
          </a:p>
        </p:txBody>
      </p:sp>
      <p:sp>
        <p:nvSpPr>
          <p:cNvPr id="25" name="TextBox 24"/>
          <p:cNvSpPr txBox="1"/>
          <p:nvPr/>
        </p:nvSpPr>
        <p:spPr>
          <a:xfrm>
            <a:off x="6839712" y="3200400"/>
            <a:ext cx="4773168" cy="292608"/>
          </a:xfrm>
          <a:prstGeom prst="rect">
            <a:avLst/>
          </a:prstGeom>
          <a:noFill/>
        </p:spPr>
        <p:txBody>
          <a:bodyPr wrap="square" lIns="0" rIns="0" tIns="0" bIns="0" anchor="t">
            <a:spAutoFit/>
          </a:bodyPr>
          <a:lstStyle/>
          <a:p>
            <a:r>
              <a:rPr sz="1400" b="1">
                <a:solidFill>
                  <a:srgbClr val="23262E"/>
                </a:solidFill>
                <a:latin typeface="Meiryo"/>
                <a:ea typeface="Meiryo"/>
              </a:rPr>
              <a:t xml:space="preserve">結果を確認</a:t>
            </a:r>
          </a:p>
        </p:txBody>
      </p:sp>
      <p:sp>
        <p:nvSpPr>
          <p:cNvPr id="26" name="TextBox 25"/>
          <p:cNvSpPr txBox="1"/>
          <p:nvPr/>
        </p:nvSpPr>
        <p:spPr>
          <a:xfrm>
            <a:off x="6839712" y="3493008"/>
            <a:ext cx="4773168" cy="310896"/>
          </a:xfrm>
          <a:prstGeom prst="rect">
            <a:avLst/>
          </a:prstGeom>
          <a:noFill/>
        </p:spPr>
        <p:txBody>
          <a:bodyPr wrap="square" lIns="0" rIns="0" tIns="0" bIns="0" anchor="t">
            <a:spAutoFit/>
          </a:bodyPr>
          <a:lstStyle/>
          <a:p>
            <a:r>
              <a:rPr sz="1150" b="0">
                <a:solidFill>
                  <a:srgbClr val="5A6272"/>
                </a:solidFill>
                <a:latin typeface="Meiryo"/>
                <a:ea typeface="Meiryo"/>
              </a:rPr>
              <a:t xml:space="preserve">OK / NG と枠付きの検出画像が表示されます</a:t>
            </a:r>
          </a:p>
        </p:txBody>
      </p:sp>
      <p:sp>
        <p:nvSpPr>
          <p:cNvPr id="27" name="Rounded Rectangle 26"/>
          <p:cNvSpPr/>
          <p:nvPr/>
        </p:nvSpPr>
        <p:spPr>
          <a:xfrm>
            <a:off x="548640" y="4206240"/>
            <a:ext cx="5394960" cy="1463040"/>
          </a:xfrm>
          <a:prstGeom prst="roundRect">
            <a:avLst>
              <a:gd name="adj" fmla="val 12000"/>
            </a:avLst>
          </a:prstGeom>
          <a:solidFill>
            <a:srgbClr val="ED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4370832"/>
            <a:ext cx="1280160" cy="548640"/>
          </a:xfrm>
          <a:prstGeom prst="rect">
            <a:avLst/>
          </a:prstGeom>
          <a:noFill/>
        </p:spPr>
        <p:txBody>
          <a:bodyPr wrap="square" lIns="0" rIns="0" tIns="0" bIns="0" anchor="t">
            <a:spAutoFit/>
          </a:bodyPr>
          <a:lstStyle/>
          <a:p>
            <a:r>
              <a:rPr sz="2800" b="1">
                <a:solidFill>
                  <a:srgbClr val="2E7D4F"/>
                </a:solidFill>
                <a:latin typeface="Meiryo"/>
                <a:ea typeface="Meiryo"/>
              </a:rPr>
              <a:t xml:space="preserve">OK</a:t>
            </a:r>
          </a:p>
        </p:txBody>
      </p:sp>
      <p:sp>
        <p:nvSpPr>
          <p:cNvPr id="29" name="TextBox 28"/>
          <p:cNvSpPr txBox="1"/>
          <p:nvPr/>
        </p:nvSpPr>
        <p:spPr>
          <a:xfrm>
            <a:off x="2194560" y="4407408"/>
            <a:ext cx="3566160" cy="1188720"/>
          </a:xfrm>
          <a:prstGeom prst="rect">
            <a:avLst/>
          </a:prstGeom>
          <a:noFill/>
        </p:spPr>
        <p:txBody>
          <a:bodyPr wrap="square" lIns="0" rIns="0" tIns="0" bIns="0" anchor="t">
            <a:spAutoFit/>
          </a:bodyPr>
          <a:lstStyle/>
          <a:p>
            <a:r>
              <a:rPr sz="1200" b="0">
                <a:solidFill>
                  <a:srgbClr val="23262E"/>
                </a:solidFill>
                <a:latin typeface="Meiryo"/>
                <a:ea typeface="Meiryo"/>
              </a:rPr>
              <a:t xml:space="preserve">員数が基準どおり。</a:t>
            </a:r>
          </a:p>
          <a:p>
            <a:r>
              <a:rPr sz="1200" b="0">
                <a:solidFill>
                  <a:srgbClr val="23262E"/>
                </a:solidFill>
                <a:latin typeface="Meiryo"/>
                <a:ea typeface="Meiryo"/>
              </a:rPr>
              <a:t xml:space="preserve">そのまま出荷工程へ。</a:t>
            </a:r>
          </a:p>
        </p:txBody>
      </p:sp>
      <p:sp>
        <p:nvSpPr>
          <p:cNvPr id="30" name="Rounded Rectangle 29"/>
          <p:cNvSpPr/>
          <p:nvPr/>
        </p:nvSpPr>
        <p:spPr>
          <a:xfrm>
            <a:off x="6217920" y="4206240"/>
            <a:ext cx="5394960" cy="1463040"/>
          </a:xfrm>
          <a:prstGeom prst="roundRect">
            <a:avLst>
              <a:gd name="adj" fmla="val 12000"/>
            </a:avLst>
          </a:prstGeom>
          <a:solidFill>
            <a:srgbClr val="FBEF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92240" y="4370832"/>
            <a:ext cx="1280160" cy="548640"/>
          </a:xfrm>
          <a:prstGeom prst="rect">
            <a:avLst/>
          </a:prstGeom>
          <a:noFill/>
        </p:spPr>
        <p:txBody>
          <a:bodyPr wrap="square" lIns="0" rIns="0" tIns="0" bIns="0" anchor="t">
            <a:spAutoFit/>
          </a:bodyPr>
          <a:lstStyle/>
          <a:p>
            <a:r>
              <a:rPr sz="2800" b="1">
                <a:solidFill>
                  <a:srgbClr val="B3362B"/>
                </a:solidFill>
                <a:latin typeface="Meiryo"/>
                <a:ea typeface="Meiryo"/>
              </a:rPr>
              <a:t xml:space="preserve">NG</a:t>
            </a:r>
          </a:p>
        </p:txBody>
      </p:sp>
      <p:sp>
        <p:nvSpPr>
          <p:cNvPr id="32" name="TextBox 31"/>
          <p:cNvSpPr txBox="1"/>
          <p:nvPr/>
        </p:nvSpPr>
        <p:spPr>
          <a:xfrm>
            <a:off x="7863840" y="4407408"/>
            <a:ext cx="3566160" cy="1188720"/>
          </a:xfrm>
          <a:prstGeom prst="rect">
            <a:avLst/>
          </a:prstGeom>
          <a:noFill/>
        </p:spPr>
        <p:txBody>
          <a:bodyPr wrap="square" lIns="0" rIns="0" tIns="0" bIns="0" anchor="t">
            <a:spAutoFit/>
          </a:bodyPr>
          <a:lstStyle/>
          <a:p>
            <a:r>
              <a:rPr sz="1200" b="0">
                <a:solidFill>
                  <a:srgbClr val="23262E"/>
                </a:solidFill>
                <a:latin typeface="Meiryo"/>
                <a:ea typeface="Meiryo"/>
              </a:rPr>
              <a:t xml:space="preserve">結果画像でどの部品が不足／過剰かを確認し、実物の員数を直して再検査。</a:t>
            </a:r>
          </a:p>
        </p:txBody>
      </p:sp>
      <p:sp>
        <p:nvSpPr>
          <p:cNvPr id="33" name="TextBox 32"/>
          <p:cNvSpPr txBox="1"/>
          <p:nvPr/>
        </p:nvSpPr>
        <p:spPr>
          <a:xfrm>
            <a:off x="548640" y="5852160"/>
            <a:ext cx="10972800" cy="640080"/>
          </a:xfrm>
          <a:prstGeom prst="rect">
            <a:avLst/>
          </a:prstGeom>
          <a:noFill/>
        </p:spPr>
        <p:txBody>
          <a:bodyPr wrap="square" lIns="0" rIns="0" tIns="0" bIns="0" anchor="t">
            <a:spAutoFit/>
          </a:bodyPr>
          <a:lstStyle/>
          <a:p>
            <a:r>
              <a:rPr sz="1150" b="0">
                <a:solidFill>
                  <a:srgbClr val="5A6272"/>
                </a:solidFill>
                <a:latin typeface="Meiryo"/>
                <a:ea typeface="Meiryo"/>
              </a:rPr>
              <a:t xml:space="preserve">※ 検査結果は detect フォルダに日付ごとに自動保存されます。</a:t>
            </a:r>
          </a:p>
          <a:p>
            <a:r>
              <a:rPr sz="1150" b="0">
                <a:solidFill>
                  <a:srgbClr val="5A6272"/>
                </a:solidFill>
                <a:latin typeface="Meiryo"/>
                <a:ea typeface="Meiryo"/>
              </a:rPr>
              <a:t xml:space="preserve">※ OK/NGの基準（どのラベルが何個でOKか）はプログラム（quality_verify.py）に設定されており、メンテナーが管理します。</a:t>
            </a:r>
          </a:p>
        </p:txBody>
      </p:sp>
      <p:sp>
        <p:nvSpPr>
          <p:cNvPr id="34" name="TextBox 33"/>
          <p:cNvSpPr txBox="1"/>
          <p:nvPr/>
        </p:nvSpPr>
        <p:spPr>
          <a:xfrm>
            <a:off x="11292840" y="6473952"/>
            <a:ext cx="640080" cy="274320"/>
          </a:xfrm>
          <a:prstGeom prst="rect">
            <a:avLst/>
          </a:prstGeom>
          <a:noFill/>
        </p:spPr>
        <p:txBody>
          <a:bodyPr wrap="square" lIns="0" rIns="0" tIns="0" bIns="0" anchor="t">
            <a:spAutoFit/>
          </a:bodyPr>
          <a:lstStyle/>
          <a:p>
            <a:pPr algn="r"/>
            <a:r>
              <a:rPr sz="1000" b="0">
                <a:solidFill>
                  <a:srgbClr val="5A6272"/>
                </a:solidFill>
                <a:latin typeface="Meiryo"/>
                <a:ea typeface="Meiryo"/>
              </a:rPr>
              <a:t xml:space="preserve">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64240" cy="292608"/>
          </a:xfrm>
          <a:prstGeom prst="rect">
            <a:avLst/>
          </a:prstGeom>
          <a:noFill/>
        </p:spPr>
        <p:txBody>
          <a:bodyPr wrap="square" lIns="0" rIns="0" tIns="0" bIns="0" anchor="t">
            <a:spAutoFit/>
          </a:bodyPr>
          <a:lstStyle/>
          <a:p>
            <a:r>
              <a:rPr sz="1200" b="1">
                <a:solidFill>
                  <a:srgbClr val="3A4A8C"/>
                </a:solidFill>
                <a:latin typeface="Meiryo"/>
                <a:ea typeface="Meiryo"/>
              </a:rPr>
              <a:t xml:space="preserve">STEP 5（2/2）</a:t>
            </a:r>
          </a:p>
        </p:txBody>
      </p:sp>
      <p:sp>
        <p:nvSpPr>
          <p:cNvPr id="3" name="TextBox 2"/>
          <p:cNvSpPr txBox="1"/>
          <p:nvPr/>
        </p:nvSpPr>
        <p:spPr>
          <a:xfrm>
            <a:off x="548640" y="566928"/>
            <a:ext cx="11064240" cy="603504"/>
          </a:xfrm>
          <a:prstGeom prst="rect">
            <a:avLst/>
          </a:prstGeom>
          <a:noFill/>
        </p:spPr>
        <p:txBody>
          <a:bodyPr wrap="square" lIns="0" rIns="0" tIns="0" bIns="0" anchor="t">
            <a:spAutoFit/>
          </a:bodyPr>
          <a:lstStyle/>
          <a:p>
            <a:r>
              <a:rPr sz="2600" b="1">
                <a:solidFill>
                  <a:srgbClr val="23262E"/>
                </a:solidFill>
                <a:latin typeface="Meiryo"/>
                <a:ea typeface="Meiryo"/>
              </a:rPr>
              <a:t xml:space="preserve">7. 員数チェック ― 自動検査（設備連動）</a:t>
            </a:r>
          </a:p>
        </p:txBody>
      </p:sp>
      <p:sp>
        <p:nvSpPr>
          <p:cNvPr id="4" name="TextBox 3"/>
          <p:cNvSpPr txBox="1"/>
          <p:nvPr/>
        </p:nvSpPr>
        <p:spPr>
          <a:xfrm>
            <a:off x="548640" y="1298448"/>
            <a:ext cx="10972800" cy="365760"/>
          </a:xfrm>
          <a:prstGeom prst="rect">
            <a:avLst/>
          </a:prstGeom>
          <a:noFill/>
        </p:spPr>
        <p:txBody>
          <a:bodyPr wrap="square" lIns="0" rIns="0" tIns="0" bIns="0" anchor="t">
            <a:spAutoFit/>
          </a:bodyPr>
          <a:lstStyle/>
          <a:p>
            <a:r>
              <a:rPr sz="1350" b="0">
                <a:solidFill>
                  <a:srgbClr val="23262E"/>
                </a:solidFill>
                <a:latin typeface="Meiryo"/>
                <a:ea typeface="Meiryo"/>
              </a:rPr>
              <a:t xml:space="preserve">PLC連携がセットアップ済みの場合、設備のスイッチ（トリガー信号）で自動的に検査が実行されます。</a:t>
            </a:r>
          </a:p>
        </p:txBody>
      </p:sp>
      <p:sp>
        <p:nvSpPr>
          <p:cNvPr id="5" name="Oval 4"/>
          <p:cNvSpPr/>
          <p:nvPr/>
        </p:nvSpPr>
        <p:spPr>
          <a:xfrm>
            <a:off x="548640" y="1938528"/>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38528"/>
            <a:ext cx="384048" cy="384048"/>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1</a:t>
            </a:r>
          </a:p>
        </p:txBody>
      </p:sp>
      <p:sp>
        <p:nvSpPr>
          <p:cNvPr id="7" name="TextBox 6"/>
          <p:cNvSpPr txBox="1"/>
          <p:nvPr/>
        </p:nvSpPr>
        <p:spPr>
          <a:xfrm>
            <a:off x="1078992" y="1920240"/>
            <a:ext cx="6601968" cy="292608"/>
          </a:xfrm>
          <a:prstGeom prst="rect">
            <a:avLst/>
          </a:prstGeom>
          <a:noFill/>
        </p:spPr>
        <p:txBody>
          <a:bodyPr wrap="square" lIns="0" rIns="0" tIns="0" bIns="0" anchor="t">
            <a:spAutoFit/>
          </a:bodyPr>
          <a:lstStyle/>
          <a:p>
            <a:r>
              <a:rPr sz="1400" b="1">
                <a:solidFill>
                  <a:srgbClr val="23262E"/>
                </a:solidFill>
                <a:latin typeface="Meiryo"/>
                <a:ea typeface="Meiryo"/>
              </a:rPr>
              <a:t xml:space="preserve">箱が検査位置に来ると設備がトリガーを出す</a:t>
            </a:r>
          </a:p>
        </p:txBody>
      </p:sp>
      <p:sp>
        <p:nvSpPr>
          <p:cNvPr id="8" name="TextBox 7"/>
          <p:cNvSpPr txBox="1"/>
          <p:nvPr/>
        </p:nvSpPr>
        <p:spPr>
          <a:xfrm>
            <a:off x="1078992" y="2212848"/>
            <a:ext cx="6601968" cy="310896"/>
          </a:xfrm>
          <a:prstGeom prst="rect">
            <a:avLst/>
          </a:prstGeom>
          <a:noFill/>
        </p:spPr>
        <p:txBody>
          <a:bodyPr wrap="square" lIns="0" rIns="0" tIns="0" bIns="0" anchor="t">
            <a:spAutoFit/>
          </a:bodyPr>
          <a:lstStyle/>
          <a:p>
            <a:r>
              <a:rPr sz="1150" b="0">
                <a:solidFill>
                  <a:srgbClr val="5A6272"/>
                </a:solidFill>
                <a:latin typeface="Meiryo"/>
                <a:ea typeface="Meiryo"/>
              </a:rPr>
              <a:t xml:space="preserve">自動で撮影・判定が実行されます</a:t>
            </a:r>
          </a:p>
        </p:txBody>
      </p:sp>
      <p:sp>
        <p:nvSpPr>
          <p:cNvPr id="9" name="Oval 8"/>
          <p:cNvSpPr/>
          <p:nvPr/>
        </p:nvSpPr>
        <p:spPr>
          <a:xfrm>
            <a:off x="548640" y="2715768"/>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15768"/>
            <a:ext cx="384048" cy="384048"/>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2</a:t>
            </a:r>
          </a:p>
        </p:txBody>
      </p:sp>
      <p:sp>
        <p:nvSpPr>
          <p:cNvPr id="11" name="TextBox 10"/>
          <p:cNvSpPr txBox="1"/>
          <p:nvPr/>
        </p:nvSpPr>
        <p:spPr>
          <a:xfrm>
            <a:off x="1078992" y="2697480"/>
            <a:ext cx="6601968" cy="292608"/>
          </a:xfrm>
          <a:prstGeom prst="rect">
            <a:avLst/>
          </a:prstGeom>
          <a:noFill/>
        </p:spPr>
        <p:txBody>
          <a:bodyPr wrap="square" lIns="0" rIns="0" tIns="0" bIns="0" anchor="t">
            <a:spAutoFit/>
          </a:bodyPr>
          <a:lstStyle/>
          <a:p>
            <a:r>
              <a:rPr sz="1400" b="1">
                <a:solidFill>
                  <a:srgbClr val="23262E"/>
                </a:solidFill>
                <a:latin typeface="Meiryo"/>
                <a:ea typeface="Meiryo"/>
              </a:rPr>
              <a:t xml:space="preserve">判定結果は設備側（PLC）へ自動通知</a:t>
            </a:r>
          </a:p>
        </p:txBody>
      </p:sp>
      <p:sp>
        <p:nvSpPr>
          <p:cNvPr id="12" name="TextBox 11"/>
          <p:cNvSpPr txBox="1"/>
          <p:nvPr/>
        </p:nvSpPr>
        <p:spPr>
          <a:xfrm>
            <a:off x="1078992" y="2990088"/>
            <a:ext cx="6601968" cy="310896"/>
          </a:xfrm>
          <a:prstGeom prst="rect">
            <a:avLst/>
          </a:prstGeom>
          <a:noFill/>
        </p:spPr>
        <p:txBody>
          <a:bodyPr wrap="square" lIns="0" rIns="0" tIns="0" bIns="0" anchor="t">
            <a:spAutoFit/>
          </a:bodyPr>
          <a:lstStyle/>
          <a:p>
            <a:r>
              <a:rPr sz="1150" b="0">
                <a:solidFill>
                  <a:srgbClr val="5A6272"/>
                </a:solidFill>
                <a:latin typeface="Meiryo"/>
                <a:ea typeface="Meiryo"/>
              </a:rPr>
              <a:t xml:space="preserve">OK → 設備が次の工程へ進む</a:t>
            </a:r>
          </a:p>
        </p:txBody>
      </p:sp>
      <p:sp>
        <p:nvSpPr>
          <p:cNvPr id="13" name="Oval 12"/>
          <p:cNvSpPr/>
          <p:nvPr/>
        </p:nvSpPr>
        <p:spPr>
          <a:xfrm>
            <a:off x="548640" y="3493008"/>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493008"/>
            <a:ext cx="384048" cy="384048"/>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3</a:t>
            </a:r>
          </a:p>
        </p:txBody>
      </p:sp>
      <p:sp>
        <p:nvSpPr>
          <p:cNvPr id="15" name="TextBox 14"/>
          <p:cNvSpPr txBox="1"/>
          <p:nvPr/>
        </p:nvSpPr>
        <p:spPr>
          <a:xfrm>
            <a:off x="1078992" y="3474720"/>
            <a:ext cx="6601968" cy="292608"/>
          </a:xfrm>
          <a:prstGeom prst="rect">
            <a:avLst/>
          </a:prstGeom>
          <a:noFill/>
        </p:spPr>
        <p:txBody>
          <a:bodyPr wrap="square" lIns="0" rIns="0" tIns="0" bIns="0" anchor="t">
            <a:spAutoFit/>
          </a:bodyPr>
          <a:lstStyle/>
          <a:p>
            <a:r>
              <a:rPr sz="1400" b="1">
                <a:solidFill>
                  <a:srgbClr val="23262E"/>
                </a:solidFill>
                <a:latin typeface="Meiryo"/>
                <a:ea typeface="Meiryo"/>
              </a:rPr>
              <a:t xml:space="preserve">NG／エラーのとき</a:t>
            </a:r>
          </a:p>
        </p:txBody>
      </p:sp>
      <p:sp>
        <p:nvSpPr>
          <p:cNvPr id="16" name="TextBox 15"/>
          <p:cNvSpPr txBox="1"/>
          <p:nvPr/>
        </p:nvSpPr>
        <p:spPr>
          <a:xfrm>
            <a:off x="1078992" y="3767328"/>
            <a:ext cx="6601968" cy="457200"/>
          </a:xfrm>
          <a:prstGeom prst="rect">
            <a:avLst/>
          </a:prstGeom>
          <a:noFill/>
        </p:spPr>
        <p:txBody>
          <a:bodyPr wrap="square" lIns="0" rIns="0" tIns="0" bIns="0" anchor="t">
            <a:spAutoFit/>
          </a:bodyPr>
          <a:lstStyle/>
          <a:p>
            <a:r>
              <a:rPr sz="1150" b="0">
                <a:solidFill>
                  <a:srgbClr val="5A6272"/>
                </a:solidFill>
                <a:latin typeface="Meiryo"/>
                <a:ea typeface="Meiryo"/>
              </a:rPr>
              <a:t xml:space="preserve">画面で検出結果を確認し、員数を直して再検査</a:t>
            </a:r>
          </a:p>
        </p:txBody>
      </p:sp>
      <p:sp>
        <p:nvSpPr>
          <p:cNvPr id="17" name="Rounded Rectangle 16"/>
          <p:cNvSpPr/>
          <p:nvPr/>
        </p:nvSpPr>
        <p:spPr>
          <a:xfrm>
            <a:off x="8229600" y="1920240"/>
            <a:ext cx="3383280" cy="2148840"/>
          </a:xfrm>
          <a:prstGeom prst="roundRect">
            <a:avLst>
              <a:gd name="adj" fmla="val 12000"/>
            </a:avLst>
          </a:prstGeom>
          <a:solidFill>
            <a:srgbClr val="FDF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94192" y="2066544"/>
            <a:ext cx="310896" cy="310896"/>
          </a:xfrm>
          <a:prstGeom prst="ellipse">
            <a:avLst/>
          </a:prstGeom>
          <a:solidFill>
            <a:srgbClr val="D97B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94192" y="2066544"/>
            <a:ext cx="310896" cy="310896"/>
          </a:xfrm>
          <a:prstGeom prst="rect">
            <a:avLst/>
          </a:prstGeom>
          <a:noFill/>
        </p:spPr>
        <p:txBody>
          <a:bodyPr wrap="square" lIns="0" rIns="0" tIns="0" bIns="0" anchor="ctr">
            <a:spAutoFit/>
          </a:bodyPr>
          <a:lstStyle/>
          <a:p>
            <a:pPr algn="ctr"/>
            <a:r>
              <a:rPr sz="1500" b="1">
                <a:solidFill>
                  <a:srgbClr val="FFFFFF"/>
                </a:solidFill>
                <a:latin typeface="Meiryo"/>
                <a:ea typeface="Meiryo"/>
              </a:rPr>
              <a:t xml:space="preserve">!</a:t>
            </a:r>
          </a:p>
        </p:txBody>
      </p:sp>
      <p:sp>
        <p:nvSpPr>
          <p:cNvPr id="20" name="TextBox 19"/>
          <p:cNvSpPr txBox="1"/>
          <p:nvPr/>
        </p:nvSpPr>
        <p:spPr>
          <a:xfrm>
            <a:off x="8833104" y="2048256"/>
            <a:ext cx="2606040" cy="292608"/>
          </a:xfrm>
          <a:prstGeom prst="rect">
            <a:avLst/>
          </a:prstGeom>
          <a:noFill/>
        </p:spPr>
        <p:txBody>
          <a:bodyPr wrap="square" lIns="0" rIns="0" tIns="0" bIns="0" anchor="t">
            <a:spAutoFit/>
          </a:bodyPr>
          <a:lstStyle/>
          <a:p>
            <a:r>
              <a:rPr sz="1250" b="1">
                <a:solidFill>
                  <a:srgbClr val="8A4B12"/>
                </a:solidFill>
                <a:latin typeface="Meiryo"/>
                <a:ea typeface="Meiryo"/>
              </a:rPr>
              <a:t xml:space="preserve">検査が動かないとき</a:t>
            </a:r>
          </a:p>
        </p:txBody>
      </p:sp>
      <p:sp>
        <p:nvSpPr>
          <p:cNvPr id="21" name="TextBox 20"/>
          <p:cNvSpPr txBox="1"/>
          <p:nvPr/>
        </p:nvSpPr>
        <p:spPr>
          <a:xfrm>
            <a:off x="8833104" y="2340864"/>
            <a:ext cx="2606040" cy="1636776"/>
          </a:xfrm>
          <a:prstGeom prst="rect">
            <a:avLst/>
          </a:prstGeom>
          <a:noFill/>
        </p:spPr>
        <p:txBody>
          <a:bodyPr wrap="square" lIns="0" rIns="0" tIns="0" bIns="0" anchor="t">
            <a:spAutoFit/>
          </a:bodyPr>
          <a:lstStyle/>
          <a:p>
            <a:r>
              <a:rPr sz="1100" b="0">
                <a:solidFill>
                  <a:srgbClr val="8A4B12"/>
                </a:solidFill>
                <a:latin typeface="Meiryo"/>
                <a:ea typeface="Meiryo"/>
              </a:rPr>
              <a:t xml:space="preserve">画面右上の「PLC結果リセット」ボタンを押して初期状態に戻してください。改善しなければメンテナーへ連絡。</a:t>
            </a:r>
          </a:p>
        </p:txBody>
      </p:sp>
      <p:sp>
        <p:nvSpPr>
          <p:cNvPr id="22" name="Rounded Rectangle 21"/>
          <p:cNvSpPr/>
          <p:nvPr/>
        </p:nvSpPr>
        <p:spPr>
          <a:xfrm>
            <a:off x="548640" y="4480560"/>
            <a:ext cx="7315200" cy="1280160"/>
          </a:xfrm>
          <a:prstGeom prst="roundRect">
            <a:avLst>
              <a:gd name="adj" fmla="val 12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08576"/>
            <a:ext cx="6912864" cy="274320"/>
          </a:xfrm>
          <a:prstGeom prst="rect">
            <a:avLst/>
          </a:prstGeom>
          <a:noFill/>
        </p:spPr>
        <p:txBody>
          <a:bodyPr wrap="square" lIns="0" rIns="0" tIns="0" bIns="0" anchor="t">
            <a:spAutoFit/>
          </a:bodyPr>
          <a:lstStyle/>
          <a:p>
            <a:r>
              <a:rPr sz="1300" b="1">
                <a:solidFill>
                  <a:srgbClr val="1E2761"/>
                </a:solidFill>
                <a:latin typeface="Meiryo"/>
                <a:ea typeface="Meiryo"/>
              </a:rPr>
              <a:t xml:space="preserve">手動検査との違い</a:t>
            </a:r>
          </a:p>
        </p:txBody>
      </p:sp>
      <p:sp>
        <p:nvSpPr>
          <p:cNvPr id="24" name="TextBox 23"/>
          <p:cNvSpPr txBox="1"/>
          <p:nvPr/>
        </p:nvSpPr>
        <p:spPr>
          <a:xfrm>
            <a:off x="749808" y="4919472"/>
            <a:ext cx="6912864" cy="731519"/>
          </a:xfrm>
          <a:prstGeom prst="rect">
            <a:avLst/>
          </a:prstGeom>
          <a:noFill/>
        </p:spPr>
        <p:txBody>
          <a:bodyPr wrap="square" lIns="0" rIns="0" tIns="0" bIns="0" anchor="t">
            <a:spAutoFit/>
          </a:bodyPr>
          <a:lstStyle/>
          <a:p>
            <a:r>
              <a:rPr sz="1150" b="0">
                <a:solidFill>
                  <a:srgbClr val="23262E"/>
                </a:solidFill>
                <a:latin typeface="Meiryo"/>
                <a:ea typeface="Meiryo"/>
              </a:rPr>
              <a:t xml:space="preserve">画面の撮影ボタンによる手動検査は、PLCへ結果を書き込みません。設備連動の検査はトリガー信号からの実行のみです。</a:t>
            </a:r>
          </a:p>
        </p:txBody>
      </p:sp>
      <p:sp>
        <p:nvSpPr>
          <p:cNvPr id="25" name="TextBox 24"/>
          <p:cNvSpPr txBox="1"/>
          <p:nvPr/>
        </p:nvSpPr>
        <p:spPr>
          <a:xfrm>
            <a:off x="11292840" y="6473952"/>
            <a:ext cx="640080" cy="274320"/>
          </a:xfrm>
          <a:prstGeom prst="rect">
            <a:avLst/>
          </a:prstGeom>
          <a:noFill/>
        </p:spPr>
        <p:txBody>
          <a:bodyPr wrap="square" lIns="0" rIns="0" tIns="0" bIns="0" anchor="t">
            <a:spAutoFit/>
          </a:bodyPr>
          <a:lstStyle/>
          <a:p>
            <a:pPr algn="r"/>
            <a:r>
              <a:rPr sz="1000" b="0">
                <a:solidFill>
                  <a:srgbClr val="5A6272"/>
                </a:solidFill>
                <a:latin typeface="Meiryo"/>
                <a:ea typeface="Meiryo"/>
              </a:rPr>
              <a:t xml:space="preserve">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64240" cy="292608"/>
          </a:xfrm>
          <a:prstGeom prst="rect">
            <a:avLst/>
          </a:prstGeom>
          <a:noFill/>
        </p:spPr>
        <p:txBody>
          <a:bodyPr wrap="square" lIns="0" rIns="0" tIns="0" bIns="0" anchor="t">
            <a:spAutoFit/>
          </a:bodyPr>
          <a:lstStyle/>
          <a:p>
            <a:r>
              <a:rPr sz="1200" b="1">
                <a:solidFill>
                  <a:srgbClr val="3A4A8C"/>
                </a:solidFill>
                <a:latin typeface="Meiryo"/>
                <a:ea typeface="Meiryo"/>
              </a:rPr>
              <a:t xml:space="preserve">TROUBLE</a:t>
            </a:r>
          </a:p>
        </p:txBody>
      </p:sp>
      <p:sp>
        <p:nvSpPr>
          <p:cNvPr id="3" name="TextBox 2"/>
          <p:cNvSpPr txBox="1"/>
          <p:nvPr/>
        </p:nvSpPr>
        <p:spPr>
          <a:xfrm>
            <a:off x="548640" y="566928"/>
            <a:ext cx="11064240" cy="603504"/>
          </a:xfrm>
          <a:prstGeom prst="rect">
            <a:avLst/>
          </a:prstGeom>
          <a:noFill/>
        </p:spPr>
        <p:txBody>
          <a:bodyPr wrap="square" lIns="0" rIns="0" tIns="0" bIns="0" anchor="t">
            <a:spAutoFit/>
          </a:bodyPr>
          <a:lstStyle/>
          <a:p>
            <a:r>
              <a:rPr sz="2600" b="1">
                <a:solidFill>
                  <a:srgbClr val="23262E"/>
                </a:solidFill>
                <a:latin typeface="Meiryo"/>
                <a:ea typeface="Meiryo"/>
              </a:rPr>
              <a:t xml:space="preserve">8. こんなときは</a:t>
            </a:r>
          </a:p>
        </p:txBody>
      </p:sp>
      <p:graphicFrame>
        <p:nvGraphicFramePr>
          <p:cNvPr id="4" name="Table 3"/>
          <p:cNvGraphicFramePr>
            <a:graphicFrameLocks noGrp="1"/>
          </p:cNvGraphicFramePr>
          <p:nvPr/>
        </p:nvGraphicFramePr>
        <p:xfrm>
          <a:off x="548640" y="1417320"/>
          <a:ext cx="11064240" cy="3712464"/>
        </p:xfrm>
        <a:graphic>
          <a:graphicData uri="http://schemas.openxmlformats.org/drawingml/2006/table">
            <a:tbl firstRow="0" bandRow="0">
              <a:tblPr firstRow="1" bandRow="1">
                <a:tableStyleId>{5C22544A-7EE6-4342-B048-85BDC9FD1C3A}</a:tableStyleId>
              </a:tblPr>
              <a:tblGrid>
                <a:gridCol w="3291840"/>
                <a:gridCol w="7772400"/>
              </a:tblGrid>
              <a:tr h="530352">
                <a:tc>
                  <a:txBody>
                    <a:bodyPr wrap="square"/>
                    <a:lstStyle/>
                    <a:p>
                      <a:r>
                        <a:rPr sz="1200" b="1">
                          <a:solidFill>
                            <a:srgbClr val="FFFFFF"/>
                          </a:solidFill>
                          <a:latin typeface="Meiryo"/>
                          <a:ea typeface="Meiryo"/>
                        </a:rPr>
                        <a:t xml:space="preserve">症状</a:t>
                      </a:r>
                    </a:p>
                  </a:txBody>
                  <a:tcPr marL="73152" marR="73152" marT="27432" marB="27432" anchor="ctr">
                    <a:solidFill>
                      <a:srgbClr val="1E2761"/>
                    </a:solidFill>
                  </a:tcPr>
                </a:tc>
                <a:tc>
                  <a:txBody>
                    <a:bodyPr wrap="square"/>
                    <a:lstStyle/>
                    <a:p>
                      <a:r>
                        <a:rPr sz="1200" b="1">
                          <a:solidFill>
                            <a:srgbClr val="FFFFFF"/>
                          </a:solidFill>
                          <a:latin typeface="Meiryo"/>
                          <a:ea typeface="Meiryo"/>
                        </a:rPr>
                        <a:t xml:space="preserve">対処</a:t>
                      </a:r>
                    </a:p>
                  </a:txBody>
                  <a:tcPr marL="73152" marR="73152" marT="27432" marB="27432" anchor="ctr">
                    <a:solidFill>
                      <a:srgbClr val="1E2761"/>
                    </a:solidFill>
                  </a:tcPr>
                </a:tc>
              </a:tr>
              <a:tr h="530352">
                <a:tc>
                  <a:txBody>
                    <a:bodyPr wrap="square"/>
                    <a:lstStyle/>
                    <a:p>
                      <a:r>
                        <a:rPr sz="1050" b="0">
                          <a:solidFill>
                            <a:srgbClr val="23262E"/>
                          </a:solidFill>
                          <a:latin typeface="Meiryo"/>
                          <a:ea typeface="Meiryo"/>
                        </a:rPr>
                        <a:t xml:space="preserve">画面が開かない</a:t>
                      </a:r>
                    </a:p>
                  </a:txBody>
                  <a:tcPr marL="73152" marR="73152" marT="27432" marB="27432" anchor="ctr">
                    <a:solidFill>
                      <a:srgbClr val="FFFFFF"/>
                    </a:solidFill>
                  </a:tcPr>
                </a:tc>
                <a:tc>
                  <a:txBody>
                    <a:bodyPr wrap="square"/>
                    <a:lstStyle/>
                    <a:p>
                      <a:r>
                        <a:rPr sz="1050" b="0">
                          <a:solidFill>
                            <a:srgbClr val="23262E"/>
                          </a:solidFill>
                          <a:latin typeface="Meiryo"/>
                          <a:ea typeface="Meiryo"/>
                        </a:rPr>
                        <a:t xml:space="preserve">黒い画面が起動しているか確認。ブラウザで http://127.0.0.1:8000/ を開き直す</a:t>
                      </a:r>
                    </a:p>
                  </a:txBody>
                  <a:tcPr marL="73152" marR="73152" marT="27432" marB="27432" anchor="ctr">
                    <a:solidFill>
                      <a:srgbClr val="FFFFFF"/>
                    </a:solidFill>
                  </a:tcPr>
                </a:tc>
              </a:tr>
              <a:tr h="530352">
                <a:tc>
                  <a:txBody>
                    <a:bodyPr wrap="square"/>
                    <a:lstStyle/>
                    <a:p>
                      <a:r>
                        <a:rPr sz="1050" b="0">
                          <a:solidFill>
                            <a:srgbClr val="23262E"/>
                          </a:solidFill>
                          <a:latin typeface="Meiryo"/>
                          <a:ea typeface="Meiryo"/>
                        </a:rPr>
                        <a:t xml:space="preserve">カメラが映らない</a:t>
                      </a:r>
                    </a:p>
                  </a:txBody>
                  <a:tcPr marL="73152" marR="73152" marT="27432" marB="27432" anchor="ctr">
                    <a:solidFill>
                      <a:srgbClr val="F4F7FC"/>
                    </a:solidFill>
                  </a:tcPr>
                </a:tc>
                <a:tc>
                  <a:txBody>
                    <a:bodyPr wrap="square"/>
                    <a:lstStyle/>
                    <a:p>
                      <a:r>
                        <a:rPr sz="1050" b="0">
                          <a:solidFill>
                            <a:srgbClr val="23262E"/>
                          </a:solidFill>
                          <a:latin typeface="Meiryo"/>
                          <a:ea typeface="Meiryo"/>
                        </a:rPr>
                        <a:t xml:space="preserve">USBの抜き差し。会議アプリなど他のアプリを閉じる</a:t>
                      </a:r>
                    </a:p>
                  </a:txBody>
                  <a:tcPr marL="73152" marR="73152" marT="27432" marB="27432" anchor="ctr">
                    <a:solidFill>
                      <a:srgbClr val="F4F7FC"/>
                    </a:solidFill>
                  </a:tcPr>
                </a:tc>
              </a:tr>
              <a:tr h="530352">
                <a:tc>
                  <a:txBody>
                    <a:bodyPr wrap="square"/>
                    <a:lstStyle/>
                    <a:p>
                      <a:r>
                        <a:rPr sz="1050" b="0">
                          <a:solidFill>
                            <a:srgbClr val="23262E"/>
                          </a:solidFill>
                          <a:latin typeface="Meiryo"/>
                          <a:ea typeface="Meiryo"/>
                        </a:rPr>
                        <a:t xml:space="preserve">検出しない・数え間違いが多い</a:t>
                      </a:r>
                    </a:p>
                  </a:txBody>
                  <a:tcPr marL="73152" marR="73152" marT="27432" marB="27432" anchor="ctr">
                    <a:solidFill>
                      <a:srgbClr val="FFFFFF"/>
                    </a:solidFill>
                  </a:tcPr>
                </a:tc>
                <a:tc>
                  <a:txBody>
                    <a:bodyPr wrap="square"/>
                    <a:lstStyle/>
                    <a:p>
                      <a:r>
                        <a:rPr sz="1050" b="0">
                          <a:solidFill>
                            <a:srgbClr val="23262E"/>
                          </a:solidFill>
                          <a:latin typeface="Meiryo"/>
                          <a:ea typeface="Meiryo"/>
                        </a:rPr>
                        <a:t xml:space="preserve">カメラ位置・照明が学習時と同じか確認。改善しなければ、今の環境で画像を追加撮影しアノテーション → 再学習</a:t>
                      </a:r>
                    </a:p>
                  </a:txBody>
                  <a:tcPr marL="73152" marR="73152" marT="27432" marB="27432" anchor="ctr">
                    <a:solidFill>
                      <a:srgbClr val="FFFFFF"/>
                    </a:solidFill>
                  </a:tcPr>
                </a:tc>
              </a:tr>
              <a:tr h="530352">
                <a:tc>
                  <a:txBody>
                    <a:bodyPr wrap="square"/>
                    <a:lstStyle/>
                    <a:p>
                      <a:r>
                        <a:rPr sz="1050" b="0">
                          <a:solidFill>
                            <a:srgbClr val="23262E"/>
                          </a:solidFill>
                          <a:latin typeface="Meiryo"/>
                          <a:ea typeface="Meiryo"/>
                        </a:rPr>
                        <a:t xml:space="preserve">PLCトリガーで検査が始まらない</a:t>
                      </a:r>
                    </a:p>
                  </a:txBody>
                  <a:tcPr marL="73152" marR="73152" marT="27432" marB="27432" anchor="ctr">
                    <a:solidFill>
                      <a:srgbClr val="F4F7FC"/>
                    </a:solidFill>
                  </a:tcPr>
                </a:tc>
                <a:tc>
                  <a:txBody>
                    <a:bodyPr wrap="square"/>
                    <a:lstStyle/>
                    <a:p>
                      <a:r>
                        <a:rPr sz="1050" b="0">
                          <a:solidFill>
                            <a:srgbClr val="23262E"/>
                          </a:solidFill>
                          <a:latin typeface="Meiryo"/>
                          <a:ea typeface="Meiryo"/>
                        </a:rPr>
                        <a:t xml:space="preserve">「PLC結果リセット」を押す。改善しなければメンテナーへ連絡</a:t>
                      </a:r>
                    </a:p>
                  </a:txBody>
                  <a:tcPr marL="73152" marR="73152" marT="27432" marB="27432" anchor="ctr">
                    <a:solidFill>
                      <a:srgbClr val="F4F7FC"/>
                    </a:solidFill>
                  </a:tcPr>
                </a:tc>
              </a:tr>
              <a:tr h="530352">
                <a:tc>
                  <a:txBody>
                    <a:bodyPr wrap="square"/>
                    <a:lstStyle/>
                    <a:p>
                      <a:r>
                        <a:rPr sz="1050" b="0">
                          <a:solidFill>
                            <a:srgbClr val="23262E"/>
                          </a:solidFill>
                          <a:latin typeface="Meiryo"/>
                          <a:ea typeface="Meiryo"/>
                        </a:rPr>
                        <a:t xml:space="preserve">学習が途中で止まる・エラー</a:t>
                      </a:r>
                    </a:p>
                  </a:txBody>
                  <a:tcPr marL="73152" marR="73152" marT="27432" marB="27432" anchor="ctr">
                    <a:solidFill>
                      <a:srgbClr val="FFFFFF"/>
                    </a:solidFill>
                  </a:tcPr>
                </a:tc>
                <a:tc>
                  <a:txBody>
                    <a:bodyPr wrap="square"/>
                    <a:lstStyle/>
                    <a:p>
                      <a:r>
                        <a:rPr sz="1050" b="0">
                          <a:solidFill>
                            <a:srgbClr val="23262E"/>
                          </a:solidFill>
                          <a:latin typeface="Meiryo"/>
                          <a:ea typeface="Meiryo"/>
                        </a:rPr>
                        <a:t xml:space="preserve">batch_size を小さくして再実行。改善しなければメンテナーへ連絡</a:t>
                      </a:r>
                    </a:p>
                  </a:txBody>
                  <a:tcPr marL="73152" marR="73152" marT="27432" marB="27432" anchor="ctr">
                    <a:solidFill>
                      <a:srgbClr val="FFFFFF"/>
                    </a:solidFill>
                  </a:tcPr>
                </a:tc>
              </a:tr>
              <a:tr h="530352">
                <a:tc>
                  <a:txBody>
                    <a:bodyPr wrap="square"/>
                    <a:lstStyle/>
                    <a:p>
                      <a:r>
                        <a:rPr sz="1050" b="0">
                          <a:solidFill>
                            <a:srgbClr val="23262E"/>
                          </a:solidFill>
                          <a:latin typeface="Meiryo"/>
                          <a:ea typeface="Meiryo"/>
                        </a:rPr>
                        <a:t xml:space="preserve">動作がおかしい</a:t>
                      </a:r>
                    </a:p>
                  </a:txBody>
                  <a:tcPr marL="73152" marR="73152" marT="27432" marB="27432" anchor="ctr">
                    <a:solidFill>
                      <a:srgbClr val="F4F7FC"/>
                    </a:solidFill>
                  </a:tcPr>
                </a:tc>
                <a:tc>
                  <a:txBody>
                    <a:bodyPr wrap="square"/>
                    <a:lstStyle/>
                    <a:p>
                      <a:r>
                        <a:rPr sz="1050" b="0">
                          <a:solidFill>
                            <a:srgbClr val="23262E"/>
                          </a:solidFill>
                          <a:latin typeface="Meiryo"/>
                          <a:ea typeface="Meiryo"/>
                        </a:rPr>
                        <a:t xml:space="preserve">黒い画面を閉じてシステムを再起動</a:t>
                      </a:r>
                    </a:p>
                  </a:txBody>
                  <a:tcPr marL="73152" marR="73152" marT="27432" marB="27432" anchor="ctr">
                    <a:solidFill>
                      <a:srgbClr val="F4F7FC"/>
                    </a:solidFill>
                  </a:tcPr>
                </a:tc>
              </a:tr>
            </a:tbl>
          </a:graphicData>
        </a:graphic>
      </p:graphicFrame>
      <p:sp>
        <p:nvSpPr>
          <p:cNvPr id="5" name="Rounded Rectangle 4"/>
          <p:cNvSpPr/>
          <p:nvPr/>
        </p:nvSpPr>
        <p:spPr>
          <a:xfrm>
            <a:off x="548640" y="5989320"/>
            <a:ext cx="11064240" cy="548640"/>
          </a:xfrm>
          <a:prstGeom prst="roundRect">
            <a:avLst>
              <a:gd name="adj" fmla="val 12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5989320"/>
            <a:ext cx="10515600" cy="548640"/>
          </a:xfrm>
          <a:prstGeom prst="rect">
            <a:avLst/>
          </a:prstGeom>
          <a:noFill/>
        </p:spPr>
        <p:txBody>
          <a:bodyPr wrap="square" lIns="0" rIns="0" tIns="0" bIns="0" anchor="ctr">
            <a:spAutoFit/>
          </a:bodyPr>
          <a:lstStyle/>
          <a:p>
            <a:r>
              <a:rPr sz="1400" b="1">
                <a:solidFill>
                  <a:srgbClr val="FFFFFF"/>
                </a:solidFill>
                <a:latin typeface="Meiryo"/>
                <a:ea typeface="Meiryo"/>
              </a:rPr>
              <a:t xml:space="preserve">判断に迷ったら生産設備メンテナーに連絡してください。</a:t>
            </a:r>
          </a:p>
        </p:txBody>
      </p:sp>
      <p:sp>
        <p:nvSpPr>
          <p:cNvPr id="7" name="TextBox 6"/>
          <p:cNvSpPr txBox="1"/>
          <p:nvPr/>
        </p:nvSpPr>
        <p:spPr>
          <a:xfrm>
            <a:off x="11292840" y="6473952"/>
            <a:ext cx="640080" cy="274320"/>
          </a:xfrm>
          <a:prstGeom prst="rect">
            <a:avLst/>
          </a:prstGeom>
          <a:noFill/>
        </p:spPr>
        <p:txBody>
          <a:bodyPr wrap="square" lIns="0" rIns="0" tIns="0" bIns="0" anchor="t">
            <a:spAutoFit/>
          </a:bodyPr>
          <a:lstStyle/>
          <a:p>
            <a:pPr algn="r"/>
            <a:r>
              <a:rPr sz="1000" b="0">
                <a:solidFill>
                  <a:srgbClr val="5A6272"/>
                </a:solidFill>
                <a:latin typeface="Meiryo"/>
                <a:ea typeface="Meiryo"/>
              </a:rPr>
              <a:t xml:space="preserve">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Oval 1"/>
          <p:cNvSpPr/>
          <p:nvPr/>
        </p:nvSpPr>
        <p:spPr>
          <a:xfrm>
            <a:off x="9509760" y="4389120"/>
            <a:ext cx="4754880" cy="4754880"/>
          </a:xfrm>
          <a:prstGeom prst="ellipse">
            <a:avLst/>
          </a:prstGeom>
          <a:noFill/>
          <a:ln w="19050">
            <a:solidFill>
              <a:srgbClr val="3A4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5486400"/>
            <a:ext cx="2560320" cy="2560320"/>
          </a:xfrm>
          <a:prstGeom prst="ellipse">
            <a:avLst/>
          </a:prstGeom>
          <a:solidFill>
            <a:srgbClr val="3A4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822960"/>
            <a:ext cx="9144000" cy="365760"/>
          </a:xfrm>
          <a:prstGeom prst="rect">
            <a:avLst/>
          </a:prstGeom>
          <a:noFill/>
        </p:spPr>
        <p:txBody>
          <a:bodyPr wrap="square" lIns="0" rIns="0" tIns="0" bIns="0" anchor="t">
            <a:spAutoFit/>
          </a:bodyPr>
          <a:lstStyle/>
          <a:p>
            <a:r>
              <a:rPr sz="1300" b="1">
                <a:solidFill>
                  <a:srgbClr val="CADCFC"/>
                </a:solidFill>
                <a:latin typeface="Meiryo"/>
                <a:ea typeface="Meiryo"/>
              </a:rPr>
              <a:t xml:space="preserve">FAQ</a:t>
            </a:r>
          </a:p>
        </p:txBody>
      </p:sp>
      <p:sp>
        <p:nvSpPr>
          <p:cNvPr id="5" name="TextBox 4"/>
          <p:cNvSpPr txBox="1"/>
          <p:nvPr/>
        </p:nvSpPr>
        <p:spPr>
          <a:xfrm>
            <a:off x="822960" y="1234440"/>
            <a:ext cx="10058400" cy="640080"/>
          </a:xfrm>
          <a:prstGeom prst="rect">
            <a:avLst/>
          </a:prstGeom>
          <a:noFill/>
        </p:spPr>
        <p:txBody>
          <a:bodyPr wrap="square" lIns="0" rIns="0" tIns="0" bIns="0" anchor="t">
            <a:spAutoFit/>
          </a:bodyPr>
          <a:lstStyle/>
          <a:p>
            <a:r>
              <a:rPr sz="3000" b="1">
                <a:solidFill>
                  <a:srgbClr val="FFFFFF"/>
                </a:solidFill>
                <a:latin typeface="Meiryo"/>
                <a:ea typeface="Meiryo"/>
              </a:rPr>
              <a:t xml:space="preserve">よくある質問</a:t>
            </a:r>
          </a:p>
        </p:txBody>
      </p:sp>
      <p:sp>
        <p:nvSpPr>
          <p:cNvPr id="6" name="Rounded Rectangle 5"/>
          <p:cNvSpPr/>
          <p:nvPr/>
        </p:nvSpPr>
        <p:spPr>
          <a:xfrm>
            <a:off x="822960" y="2194560"/>
            <a:ext cx="9509760" cy="1143000"/>
          </a:xfrm>
          <a:prstGeom prst="roundRect">
            <a:avLst>
              <a:gd name="adj" fmla="val 12000"/>
            </a:avLst>
          </a:prstGeom>
          <a:solidFill>
            <a:srgbClr val="3A4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322576"/>
            <a:ext cx="8961120" cy="960120"/>
          </a:xfrm>
          <a:prstGeom prst="rect">
            <a:avLst/>
          </a:prstGeom>
          <a:noFill/>
        </p:spPr>
        <p:txBody>
          <a:bodyPr wrap="square" lIns="0" rIns="0" tIns="0" bIns="0" anchor="t">
            <a:spAutoFit/>
          </a:bodyPr>
          <a:lstStyle/>
          <a:p>
            <a:pPr>
              <a:spcAft>
                <a:spcPts val="400"/>
              </a:spcAft>
            </a:pPr>
            <a:r>
              <a:rPr sz="1350" b="1">
                <a:solidFill>
                  <a:srgbClr val="FFFFFF"/>
                </a:solidFill>
                <a:latin typeface="Meiryo"/>
                <a:ea typeface="Meiryo"/>
              </a:rPr>
              <a:t xml:space="preserve">Q. 新しい製品を検査したい</a:t>
            </a:r>
          </a:p>
          <a:p>
            <a:r>
              <a:rPr sz="1150" b="0">
                <a:solidFill>
                  <a:srgbClr val="CADCFC"/>
                </a:solidFill>
                <a:latin typeface="Meiryo"/>
                <a:ea typeface="Meiryo"/>
              </a:rPr>
              <a:t xml:space="preserve">A. 新しいプロジェクトを作成し、撮影 → アノテーション → 学習を行ってください（3章〜）。</a:t>
            </a:r>
          </a:p>
        </p:txBody>
      </p:sp>
      <p:sp>
        <p:nvSpPr>
          <p:cNvPr id="8" name="Rounded Rectangle 7"/>
          <p:cNvSpPr/>
          <p:nvPr/>
        </p:nvSpPr>
        <p:spPr>
          <a:xfrm>
            <a:off x="822960" y="3493008"/>
            <a:ext cx="9509760" cy="1143000"/>
          </a:xfrm>
          <a:prstGeom prst="roundRect">
            <a:avLst>
              <a:gd name="adj" fmla="val 12000"/>
            </a:avLst>
          </a:prstGeom>
          <a:solidFill>
            <a:srgbClr val="3A4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3621024"/>
            <a:ext cx="8961120" cy="960120"/>
          </a:xfrm>
          <a:prstGeom prst="rect">
            <a:avLst/>
          </a:prstGeom>
          <a:noFill/>
        </p:spPr>
        <p:txBody>
          <a:bodyPr wrap="square" lIns="0" rIns="0" tIns="0" bIns="0" anchor="t">
            <a:spAutoFit/>
          </a:bodyPr>
          <a:lstStyle/>
          <a:p>
            <a:pPr>
              <a:spcAft>
                <a:spcPts val="400"/>
              </a:spcAft>
            </a:pPr>
            <a:r>
              <a:rPr sz="1350" b="1">
                <a:solidFill>
                  <a:srgbClr val="FFFFFF"/>
                </a:solidFill>
                <a:latin typeface="Meiryo"/>
                <a:ea typeface="Meiryo"/>
              </a:rPr>
              <a:t xml:space="preserve">Q. カメラや照明を変えた</a:t>
            </a:r>
          </a:p>
          <a:p>
            <a:r>
              <a:rPr sz="1150" b="0">
                <a:solidFill>
                  <a:srgbClr val="CADCFC"/>
                </a:solidFill>
                <a:latin typeface="Meiryo"/>
                <a:ea typeface="Meiryo"/>
              </a:rPr>
              <a:t xml:space="preserve">A. 見え方が変わるとAIの精度が落ちます。新しい環境で画像を撮り直し、再学習してください。</a:t>
            </a:r>
          </a:p>
        </p:txBody>
      </p:sp>
      <p:sp>
        <p:nvSpPr>
          <p:cNvPr id="10" name="Rounded Rectangle 9"/>
          <p:cNvSpPr/>
          <p:nvPr/>
        </p:nvSpPr>
        <p:spPr>
          <a:xfrm>
            <a:off x="822960" y="4791456"/>
            <a:ext cx="9509760" cy="1143000"/>
          </a:xfrm>
          <a:prstGeom prst="roundRect">
            <a:avLst>
              <a:gd name="adj" fmla="val 12000"/>
            </a:avLst>
          </a:prstGeom>
          <a:solidFill>
            <a:srgbClr val="3A4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8961120" cy="960120"/>
          </a:xfrm>
          <a:prstGeom prst="rect">
            <a:avLst/>
          </a:prstGeom>
          <a:noFill/>
        </p:spPr>
        <p:txBody>
          <a:bodyPr wrap="square" lIns="0" rIns="0" tIns="0" bIns="0" anchor="t">
            <a:spAutoFit/>
          </a:bodyPr>
          <a:lstStyle/>
          <a:p>
            <a:pPr>
              <a:spcAft>
                <a:spcPts val="400"/>
              </a:spcAft>
            </a:pPr>
            <a:r>
              <a:rPr sz="1350" b="1">
                <a:solidFill>
                  <a:srgbClr val="FFFFFF"/>
                </a:solidFill>
                <a:latin typeface="Meiryo"/>
                <a:ea typeface="Meiryo"/>
              </a:rPr>
              <a:t xml:space="preserve">Q. 判定基準（何個でOKか）を変えたい</a:t>
            </a:r>
          </a:p>
          <a:p>
            <a:r>
              <a:rPr sz="1150" b="0">
                <a:solidFill>
                  <a:srgbClr val="CADCFC"/>
                </a:solidFill>
                <a:latin typeface="Meiryo"/>
                <a:ea typeface="Meiryo"/>
              </a:rPr>
              <a:t xml:space="preserve">A. 判定基準はプログラム（quality_verify.py）に設定されているため、変更はメンテナーに依頼してください（手順はセットアップマニュアル8章）。変更後はOK品・NG品の両方で正しく判定されることを確認してください。</a:t>
            </a:r>
          </a:p>
        </p:txBody>
      </p:sp>
      <p:sp>
        <p:nvSpPr>
          <p:cNvPr id="12" name="TextBox 11"/>
          <p:cNvSpPr txBox="1"/>
          <p:nvPr/>
        </p:nvSpPr>
        <p:spPr>
          <a:xfrm>
            <a:off x="822960" y="6035040"/>
            <a:ext cx="10058400" cy="365760"/>
          </a:xfrm>
          <a:prstGeom prst="rect">
            <a:avLst/>
          </a:prstGeom>
          <a:noFill/>
        </p:spPr>
        <p:txBody>
          <a:bodyPr wrap="square" lIns="0" rIns="0" tIns="0" bIns="0" anchor="t">
            <a:spAutoFit/>
          </a:bodyPr>
          <a:lstStyle/>
          <a:p>
            <a:r>
              <a:rPr sz="1300" b="0">
                <a:solidFill>
                  <a:srgbClr val="CADCFC"/>
                </a:solidFill>
                <a:latin typeface="Meiryo"/>
                <a:ea typeface="Meiryo"/>
              </a:rPr>
              <a:t xml:space="preserve">セットアップ・PLC連携の詳細は「セットアップマニュアル（メンテナー向け）」をご覧ください。</a:t>
            </a:r>
          </a:p>
        </p:txBody>
      </p:sp>
      <p:sp>
        <p:nvSpPr>
          <p:cNvPr id="13" name="TextBox 12"/>
          <p:cNvSpPr txBox="1"/>
          <p:nvPr/>
        </p:nvSpPr>
        <p:spPr>
          <a:xfrm>
            <a:off x="11292840" y="6473952"/>
            <a:ext cx="640080" cy="274320"/>
          </a:xfrm>
          <a:prstGeom prst="rect">
            <a:avLst/>
          </a:prstGeom>
          <a:noFill/>
        </p:spPr>
        <p:txBody>
          <a:bodyPr wrap="square" lIns="0" rIns="0" tIns="0" bIns="0" anchor="t">
            <a:spAutoFit/>
          </a:bodyPr>
          <a:lstStyle/>
          <a:p>
            <a:pPr algn="r"/>
            <a:r>
              <a:rPr sz="1000" b="0">
                <a:solidFill>
                  <a:srgbClr val="5A6272"/>
                </a:solidFill>
                <a:latin typeface="Meiryo"/>
                <a:ea typeface="Meiryo"/>
              </a:rPr>
              <a:t xml:space="preserve">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